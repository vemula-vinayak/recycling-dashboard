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3" d="100"/>
          <a:sy n="63" d="100"/>
        </p:scale>
        <p:origin x="77" y="82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868668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A1B"/>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43A047"/>
          </a:solidFill>
          <a:ln w="12700">
            <a:solidFill>
              <a:srgbClr val="43A047"/>
            </a:solidFill>
            <a:prstDash val="solid"/>
          </a:ln>
        </p:spPr>
      </p:sp>
      <p:sp>
        <p:nvSpPr>
          <p:cNvPr id="3" name="Text 1"/>
          <p:cNvSpPr/>
          <p:nvPr/>
        </p:nvSpPr>
        <p:spPr>
          <a:xfrm>
            <a:off x="365760" y="256032"/>
            <a:ext cx="8412480" cy="365760"/>
          </a:xfrm>
          <a:prstGeom prst="rect">
            <a:avLst/>
          </a:prstGeom>
          <a:noFill/>
          <a:ln/>
        </p:spPr>
        <p:txBody>
          <a:bodyPr wrap="square" rtlCol="0" anchor="ctr"/>
          <a:lstStyle/>
          <a:p>
            <a:pPr marL="0" indent="0">
              <a:buNone/>
            </a:pPr>
            <a:r>
              <a:rPr lang="en-US" sz="1100" b="1" kern="0" spc="300" dirty="0">
                <a:solidFill>
                  <a:srgbClr val="81C784"/>
                </a:solidFill>
                <a:latin typeface="Calibri" pitchFamily="34" charset="0"/>
                <a:ea typeface="Calibri" pitchFamily="34" charset="-122"/>
                <a:cs typeface="Calibri" pitchFamily="34" charset="-120"/>
              </a:rPr>
              <a:t>CSIT697 MASTER'S PROJECT</a:t>
            </a:r>
            <a:endParaRPr lang="en-US" sz="1100" dirty="0"/>
          </a:p>
        </p:txBody>
      </p:sp>
      <p:sp>
        <p:nvSpPr>
          <p:cNvPr id="4" name="Text 2"/>
          <p:cNvSpPr/>
          <p:nvPr/>
        </p:nvSpPr>
        <p:spPr>
          <a:xfrm>
            <a:off x="365760" y="777240"/>
            <a:ext cx="7772400" cy="2011680"/>
          </a:xfrm>
          <a:prstGeom prst="rect">
            <a:avLst/>
          </a:prstGeom>
          <a:noFill/>
          <a:ln/>
        </p:spPr>
        <p:txBody>
          <a:bodyPr wrap="square" rtlCol="0" anchor="ctr"/>
          <a:lstStyle/>
          <a:p>
            <a:pPr marL="0" indent="0">
              <a:lnSpc>
                <a:spcPct val="120000"/>
              </a:lnSpc>
              <a:buNone/>
            </a:pPr>
            <a:r>
              <a:rPr lang="en-US" sz="4400" b="1" dirty="0">
                <a:solidFill>
                  <a:srgbClr val="FFFFFF"/>
                </a:solidFill>
                <a:latin typeface="Calibri" pitchFamily="34" charset="0"/>
                <a:ea typeface="Calibri" pitchFamily="34" charset="-122"/>
                <a:cs typeface="Calibri" pitchFamily="34" charset="-120"/>
              </a:rPr>
              <a:t>Recycling Awareness</a:t>
            </a:r>
            <a:endParaRPr lang="en-US" sz="4400" dirty="0"/>
          </a:p>
          <a:p>
            <a:pPr marL="0" indent="0">
              <a:lnSpc>
                <a:spcPct val="120000"/>
              </a:lnSpc>
              <a:buNone/>
            </a:pPr>
            <a:r>
              <a:rPr lang="en-US" sz="4400" b="1" dirty="0">
                <a:solidFill>
                  <a:srgbClr val="FFFFFF"/>
                </a:solidFill>
                <a:latin typeface="Calibri" pitchFamily="34" charset="0"/>
                <a:ea typeface="Calibri" pitchFamily="34" charset="-122"/>
                <a:cs typeface="Calibri" pitchFamily="34" charset="-120"/>
              </a:rPr>
              <a:t>Data Dashboard</a:t>
            </a:r>
            <a:endParaRPr lang="en-US" sz="4400" dirty="0"/>
          </a:p>
        </p:txBody>
      </p:sp>
      <p:sp>
        <p:nvSpPr>
          <p:cNvPr id="5" name="Shape 3"/>
          <p:cNvSpPr/>
          <p:nvPr/>
        </p:nvSpPr>
        <p:spPr>
          <a:xfrm>
            <a:off x="365760" y="2880360"/>
            <a:ext cx="8412480" cy="36576"/>
          </a:xfrm>
          <a:prstGeom prst="rect">
            <a:avLst/>
          </a:prstGeom>
          <a:solidFill>
            <a:srgbClr val="43A047"/>
          </a:solidFill>
          <a:ln w="12700">
            <a:solidFill>
              <a:srgbClr val="43A047"/>
            </a:solidFill>
            <a:prstDash val="solid"/>
          </a:ln>
        </p:spPr>
      </p:sp>
      <p:sp>
        <p:nvSpPr>
          <p:cNvPr id="6" name="Text 4"/>
          <p:cNvSpPr/>
          <p:nvPr/>
        </p:nvSpPr>
        <p:spPr>
          <a:xfrm>
            <a:off x="365760" y="2999232"/>
            <a:ext cx="8412480" cy="457200"/>
          </a:xfrm>
          <a:prstGeom prst="rect">
            <a:avLst/>
          </a:prstGeom>
          <a:noFill/>
          <a:ln/>
        </p:spPr>
        <p:txBody>
          <a:bodyPr wrap="square" rtlCol="0" anchor="ctr"/>
          <a:lstStyle/>
          <a:p>
            <a:pPr marL="0" indent="0">
              <a:buNone/>
            </a:pPr>
            <a:r>
              <a:rPr lang="en-US" sz="1600" i="1" dirty="0">
                <a:solidFill>
                  <a:srgbClr val="A5D6A7"/>
                </a:solidFill>
                <a:latin typeface="Calibri" pitchFamily="34" charset="0"/>
                <a:ea typeface="Calibri" pitchFamily="34" charset="-122"/>
                <a:cs typeface="Calibri" pitchFamily="34" charset="-120"/>
              </a:rPr>
              <a:t>Analyzing recycling rates across materials, US regions, and OECD countries</a:t>
            </a:r>
            <a:endParaRPr lang="en-US" sz="1600" dirty="0"/>
          </a:p>
        </p:txBody>
      </p:sp>
      <p:sp>
        <p:nvSpPr>
          <p:cNvPr id="7" name="Shape 5"/>
          <p:cNvSpPr/>
          <p:nvPr/>
        </p:nvSpPr>
        <p:spPr>
          <a:xfrm>
            <a:off x="365760" y="3703320"/>
            <a:ext cx="8412480" cy="1188720"/>
          </a:xfrm>
          <a:prstGeom prst="rect">
            <a:avLst/>
          </a:prstGeom>
          <a:solidFill>
            <a:srgbClr val="243B24"/>
          </a:solidFill>
          <a:ln w="12700">
            <a:solidFill>
              <a:srgbClr val="2E7D32"/>
            </a:solidFill>
            <a:prstDash val="solid"/>
          </a:ln>
        </p:spPr>
        <p:txBody>
          <a:bodyPr/>
          <a:lstStyle/>
          <a:p>
            <a:endParaRPr lang="en-IN" dirty="0"/>
          </a:p>
        </p:txBody>
      </p:sp>
      <p:sp>
        <p:nvSpPr>
          <p:cNvPr id="8" name="Text 6"/>
          <p:cNvSpPr/>
          <p:nvPr/>
        </p:nvSpPr>
        <p:spPr>
          <a:xfrm>
            <a:off x="594360" y="3840480"/>
            <a:ext cx="3657600" cy="91440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Vinayak Vemula</a:t>
            </a:r>
            <a:endParaRPr lang="en-US" sz="1400" dirty="0"/>
          </a:p>
          <a:p>
            <a:pPr marL="0" indent="0">
              <a:buNone/>
            </a:pPr>
            <a:r>
              <a:rPr lang="en-US" sz="1400" dirty="0">
                <a:solidFill>
                  <a:srgbClr val="A5D6A7"/>
                </a:solidFill>
                <a:latin typeface="Calibri" pitchFamily="34" charset="0"/>
                <a:ea typeface="Calibri" pitchFamily="34" charset="-122"/>
                <a:cs typeface="Calibri" pitchFamily="34" charset="-120"/>
              </a:rPr>
              <a:t>50124145</a:t>
            </a:r>
            <a:endParaRPr lang="en-US" sz="1400" dirty="0"/>
          </a:p>
        </p:txBody>
      </p:sp>
      <p:sp>
        <p:nvSpPr>
          <p:cNvPr id="9" name="Text 7"/>
          <p:cNvSpPr/>
          <p:nvPr/>
        </p:nvSpPr>
        <p:spPr>
          <a:xfrm>
            <a:off x="4572000" y="3840480"/>
            <a:ext cx="3931920" cy="91440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Varshitha Kayithi</a:t>
            </a:r>
            <a:endParaRPr lang="en-US" sz="1400" dirty="0"/>
          </a:p>
          <a:p>
            <a:pPr marL="0" indent="0">
              <a:buNone/>
            </a:pPr>
            <a:r>
              <a:rPr lang="en-US" sz="1400" dirty="0">
                <a:solidFill>
                  <a:srgbClr val="A5D6A7"/>
                </a:solidFill>
                <a:latin typeface="Calibri" pitchFamily="34" charset="0"/>
                <a:ea typeface="Calibri" pitchFamily="34" charset="-122"/>
                <a:cs typeface="Calibri" pitchFamily="34" charset="-120"/>
              </a:rPr>
              <a:t>50123684</a:t>
            </a:r>
            <a:endParaRPr lang="en-US" sz="1400" dirty="0"/>
          </a:p>
        </p:txBody>
      </p:sp>
      <p:sp>
        <p:nvSpPr>
          <p:cNvPr id="10" name="Shape 8"/>
          <p:cNvSpPr/>
          <p:nvPr/>
        </p:nvSpPr>
        <p:spPr>
          <a:xfrm>
            <a:off x="4389120" y="3840480"/>
            <a:ext cx="0" cy="822960"/>
          </a:xfrm>
          <a:prstGeom prst="line">
            <a:avLst/>
          </a:prstGeom>
          <a:noFill/>
          <a:ln w="12700">
            <a:solidFill>
              <a:srgbClr val="2E7D32"/>
            </a:solidFill>
            <a:prstDash val="solid"/>
          </a:ln>
        </p:spPr>
      </p:sp>
      <p:sp>
        <p:nvSpPr>
          <p:cNvPr id="11" name="Text 9"/>
          <p:cNvSpPr/>
          <p:nvPr/>
        </p:nvSpPr>
        <p:spPr>
          <a:xfrm>
            <a:off x="365760" y="4892040"/>
            <a:ext cx="8412480" cy="201168"/>
          </a:xfrm>
          <a:prstGeom prst="rect">
            <a:avLst/>
          </a:prstGeom>
          <a:noFill/>
          <a:ln/>
        </p:spPr>
        <p:txBody>
          <a:bodyPr wrap="square" rtlCol="0" anchor="ctr"/>
          <a:lstStyle/>
          <a:p>
            <a:pPr marL="0" indent="0">
              <a:buNone/>
            </a:pPr>
            <a:r>
              <a:rPr lang="en-US" sz="1000" dirty="0">
                <a:solidFill>
                  <a:srgbClr val="546E7A"/>
                </a:solidFill>
                <a:latin typeface="Calibri" pitchFamily="34" charset="0"/>
                <a:ea typeface="Calibri" pitchFamily="34" charset="-122"/>
                <a:cs typeface="Calibri" pitchFamily="34" charset="-120"/>
              </a:rPr>
              <a:t>April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9FBF9"/>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2E7D32"/>
          </a:solidFill>
          <a:ln w="12700">
            <a:solidFill>
              <a:srgbClr val="2E7D32"/>
            </a:solidFill>
            <a:prstDash val="solid"/>
          </a:ln>
        </p:spPr>
      </p:sp>
      <p:sp>
        <p:nvSpPr>
          <p:cNvPr id="3" name="Text 1"/>
          <p:cNvSpPr/>
          <p:nvPr/>
        </p:nvSpPr>
        <p:spPr>
          <a:xfrm>
            <a:off x="365760" y="91440"/>
            <a:ext cx="8229600" cy="59436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Agenda</a:t>
            </a:r>
            <a:endParaRPr lang="en-US" sz="2800" dirty="0"/>
          </a:p>
        </p:txBody>
      </p:sp>
      <p:sp>
        <p:nvSpPr>
          <p:cNvPr id="4" name="Shape 2"/>
          <p:cNvSpPr/>
          <p:nvPr/>
        </p:nvSpPr>
        <p:spPr>
          <a:xfrm>
            <a:off x="365760" y="960120"/>
            <a:ext cx="502920" cy="502920"/>
          </a:xfrm>
          <a:prstGeom prst="rect">
            <a:avLst/>
          </a:prstGeom>
          <a:solidFill>
            <a:srgbClr val="2E7D32"/>
          </a:solidFill>
          <a:ln w="12700">
            <a:solidFill>
              <a:srgbClr val="2E7D32"/>
            </a:solidFill>
            <a:prstDash val="solid"/>
          </a:ln>
        </p:spPr>
      </p:sp>
      <p:sp>
        <p:nvSpPr>
          <p:cNvPr id="5" name="Text 3"/>
          <p:cNvSpPr/>
          <p:nvPr/>
        </p:nvSpPr>
        <p:spPr>
          <a:xfrm>
            <a:off x="365760" y="978408"/>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01</a:t>
            </a:r>
            <a:endParaRPr lang="en-US" sz="1600" dirty="0"/>
          </a:p>
        </p:txBody>
      </p:sp>
      <p:sp>
        <p:nvSpPr>
          <p:cNvPr id="6" name="Text 4"/>
          <p:cNvSpPr/>
          <p:nvPr/>
        </p:nvSpPr>
        <p:spPr>
          <a:xfrm>
            <a:off x="960120" y="1005840"/>
            <a:ext cx="3566160" cy="457200"/>
          </a:xfrm>
          <a:prstGeom prst="rect">
            <a:avLst/>
          </a:prstGeom>
          <a:noFill/>
          <a:ln/>
        </p:spPr>
        <p:txBody>
          <a:bodyPr wrap="square" rtlCol="0" anchor="ctr"/>
          <a:lstStyle/>
          <a:p>
            <a:pPr marL="0" indent="0">
              <a:buNone/>
            </a:pPr>
            <a:r>
              <a:rPr lang="en-US" sz="1500" dirty="0">
                <a:solidFill>
                  <a:srgbClr val="1A1A1A"/>
                </a:solidFill>
                <a:latin typeface="Calibri" pitchFamily="34" charset="0"/>
                <a:ea typeface="Calibri" pitchFamily="34" charset="-122"/>
                <a:cs typeface="Calibri" pitchFamily="34" charset="-120"/>
              </a:rPr>
              <a:t>Project Overview &amp; Objectives</a:t>
            </a:r>
            <a:endParaRPr lang="en-US" sz="1500" dirty="0"/>
          </a:p>
        </p:txBody>
      </p:sp>
      <p:sp>
        <p:nvSpPr>
          <p:cNvPr id="7" name="Shape 5"/>
          <p:cNvSpPr/>
          <p:nvPr/>
        </p:nvSpPr>
        <p:spPr>
          <a:xfrm>
            <a:off x="365760" y="1920240"/>
            <a:ext cx="502920" cy="502920"/>
          </a:xfrm>
          <a:prstGeom prst="rect">
            <a:avLst/>
          </a:prstGeom>
          <a:solidFill>
            <a:srgbClr val="2E7D32"/>
          </a:solidFill>
          <a:ln w="12700">
            <a:solidFill>
              <a:srgbClr val="2E7D32"/>
            </a:solidFill>
            <a:prstDash val="solid"/>
          </a:ln>
        </p:spPr>
      </p:sp>
      <p:sp>
        <p:nvSpPr>
          <p:cNvPr id="8" name="Text 6"/>
          <p:cNvSpPr/>
          <p:nvPr/>
        </p:nvSpPr>
        <p:spPr>
          <a:xfrm>
            <a:off x="365760" y="1938528"/>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02</a:t>
            </a:r>
            <a:endParaRPr lang="en-US" sz="1600" dirty="0"/>
          </a:p>
        </p:txBody>
      </p:sp>
      <p:sp>
        <p:nvSpPr>
          <p:cNvPr id="9" name="Text 7"/>
          <p:cNvSpPr/>
          <p:nvPr/>
        </p:nvSpPr>
        <p:spPr>
          <a:xfrm>
            <a:off x="960120" y="1965960"/>
            <a:ext cx="3566160" cy="457200"/>
          </a:xfrm>
          <a:prstGeom prst="rect">
            <a:avLst/>
          </a:prstGeom>
          <a:noFill/>
          <a:ln/>
        </p:spPr>
        <p:txBody>
          <a:bodyPr wrap="square" rtlCol="0" anchor="ctr"/>
          <a:lstStyle/>
          <a:p>
            <a:pPr marL="0" indent="0">
              <a:buNone/>
            </a:pPr>
            <a:r>
              <a:rPr lang="en-US" sz="1500" dirty="0">
                <a:solidFill>
                  <a:srgbClr val="1A1A1A"/>
                </a:solidFill>
                <a:latin typeface="Calibri" pitchFamily="34" charset="0"/>
                <a:ea typeface="Calibri" pitchFamily="34" charset="-122"/>
                <a:cs typeface="Calibri" pitchFamily="34" charset="-120"/>
              </a:rPr>
              <a:t>Dataset &amp; Data Collection</a:t>
            </a:r>
            <a:endParaRPr lang="en-US" sz="1500" dirty="0"/>
          </a:p>
        </p:txBody>
      </p:sp>
      <p:sp>
        <p:nvSpPr>
          <p:cNvPr id="10" name="Shape 8"/>
          <p:cNvSpPr/>
          <p:nvPr/>
        </p:nvSpPr>
        <p:spPr>
          <a:xfrm>
            <a:off x="365760" y="2880360"/>
            <a:ext cx="502920" cy="502920"/>
          </a:xfrm>
          <a:prstGeom prst="rect">
            <a:avLst/>
          </a:prstGeom>
          <a:solidFill>
            <a:srgbClr val="2E7D32"/>
          </a:solidFill>
          <a:ln w="12700">
            <a:solidFill>
              <a:srgbClr val="2E7D32"/>
            </a:solidFill>
            <a:prstDash val="solid"/>
          </a:ln>
        </p:spPr>
      </p:sp>
      <p:sp>
        <p:nvSpPr>
          <p:cNvPr id="11" name="Text 9"/>
          <p:cNvSpPr/>
          <p:nvPr/>
        </p:nvSpPr>
        <p:spPr>
          <a:xfrm>
            <a:off x="365760" y="2898648"/>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03</a:t>
            </a:r>
            <a:endParaRPr lang="en-US" sz="1600" dirty="0"/>
          </a:p>
        </p:txBody>
      </p:sp>
      <p:sp>
        <p:nvSpPr>
          <p:cNvPr id="12" name="Text 10"/>
          <p:cNvSpPr/>
          <p:nvPr/>
        </p:nvSpPr>
        <p:spPr>
          <a:xfrm>
            <a:off x="960120" y="2926080"/>
            <a:ext cx="3566160" cy="457200"/>
          </a:xfrm>
          <a:prstGeom prst="rect">
            <a:avLst/>
          </a:prstGeom>
          <a:noFill/>
          <a:ln/>
        </p:spPr>
        <p:txBody>
          <a:bodyPr wrap="square" rtlCol="0" anchor="ctr"/>
          <a:lstStyle/>
          <a:p>
            <a:pPr marL="0" indent="0">
              <a:buNone/>
            </a:pPr>
            <a:r>
              <a:rPr lang="en-US" sz="1500" dirty="0">
                <a:solidFill>
                  <a:srgbClr val="1A1A1A"/>
                </a:solidFill>
                <a:latin typeface="Calibri" pitchFamily="34" charset="0"/>
                <a:ea typeface="Calibri" pitchFamily="34" charset="-122"/>
                <a:cs typeface="Calibri" pitchFamily="34" charset="-120"/>
              </a:rPr>
              <a:t>Data Preprocessing Pipeline</a:t>
            </a:r>
            <a:endParaRPr lang="en-US" sz="1500" dirty="0"/>
          </a:p>
        </p:txBody>
      </p:sp>
      <p:sp>
        <p:nvSpPr>
          <p:cNvPr id="13" name="Shape 11"/>
          <p:cNvSpPr/>
          <p:nvPr/>
        </p:nvSpPr>
        <p:spPr>
          <a:xfrm>
            <a:off x="365760" y="3840480"/>
            <a:ext cx="502920" cy="502920"/>
          </a:xfrm>
          <a:prstGeom prst="rect">
            <a:avLst/>
          </a:prstGeom>
          <a:solidFill>
            <a:srgbClr val="2E7D32"/>
          </a:solidFill>
          <a:ln w="12700">
            <a:solidFill>
              <a:srgbClr val="2E7D32"/>
            </a:solidFill>
            <a:prstDash val="solid"/>
          </a:ln>
        </p:spPr>
      </p:sp>
      <p:sp>
        <p:nvSpPr>
          <p:cNvPr id="14" name="Text 12"/>
          <p:cNvSpPr/>
          <p:nvPr/>
        </p:nvSpPr>
        <p:spPr>
          <a:xfrm>
            <a:off x="365760" y="3858768"/>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04</a:t>
            </a:r>
            <a:endParaRPr lang="en-US" sz="1600" dirty="0"/>
          </a:p>
        </p:txBody>
      </p:sp>
      <p:sp>
        <p:nvSpPr>
          <p:cNvPr id="15" name="Text 13"/>
          <p:cNvSpPr/>
          <p:nvPr/>
        </p:nvSpPr>
        <p:spPr>
          <a:xfrm>
            <a:off x="960120" y="3886200"/>
            <a:ext cx="3566160" cy="457200"/>
          </a:xfrm>
          <a:prstGeom prst="rect">
            <a:avLst/>
          </a:prstGeom>
          <a:noFill/>
          <a:ln/>
        </p:spPr>
        <p:txBody>
          <a:bodyPr wrap="square" rtlCol="0" anchor="ctr"/>
          <a:lstStyle/>
          <a:p>
            <a:pPr marL="0" indent="0">
              <a:buNone/>
            </a:pPr>
            <a:r>
              <a:rPr lang="en-US" sz="1500" dirty="0">
                <a:solidFill>
                  <a:srgbClr val="1A1A1A"/>
                </a:solidFill>
                <a:latin typeface="Calibri" pitchFamily="34" charset="0"/>
                <a:ea typeface="Calibri" pitchFamily="34" charset="-122"/>
                <a:cs typeface="Calibri" pitchFamily="34" charset="-120"/>
              </a:rPr>
              <a:t>Exploratory Data Analysis</a:t>
            </a:r>
            <a:endParaRPr lang="en-US" sz="1500" dirty="0"/>
          </a:p>
        </p:txBody>
      </p:sp>
      <p:sp>
        <p:nvSpPr>
          <p:cNvPr id="16" name="Shape 14"/>
          <p:cNvSpPr/>
          <p:nvPr/>
        </p:nvSpPr>
        <p:spPr>
          <a:xfrm>
            <a:off x="4846320" y="960120"/>
            <a:ext cx="502920" cy="502920"/>
          </a:xfrm>
          <a:prstGeom prst="rect">
            <a:avLst/>
          </a:prstGeom>
          <a:solidFill>
            <a:srgbClr val="2E7D32"/>
          </a:solidFill>
          <a:ln w="12700">
            <a:solidFill>
              <a:srgbClr val="2E7D32"/>
            </a:solidFill>
            <a:prstDash val="solid"/>
          </a:ln>
        </p:spPr>
      </p:sp>
      <p:sp>
        <p:nvSpPr>
          <p:cNvPr id="17" name="Text 15"/>
          <p:cNvSpPr/>
          <p:nvPr/>
        </p:nvSpPr>
        <p:spPr>
          <a:xfrm>
            <a:off x="4846320" y="978408"/>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05</a:t>
            </a:r>
            <a:endParaRPr lang="en-US" sz="1600" dirty="0"/>
          </a:p>
        </p:txBody>
      </p:sp>
      <p:sp>
        <p:nvSpPr>
          <p:cNvPr id="18" name="Text 16"/>
          <p:cNvSpPr/>
          <p:nvPr/>
        </p:nvSpPr>
        <p:spPr>
          <a:xfrm>
            <a:off x="5440680" y="1005840"/>
            <a:ext cx="3566160" cy="457200"/>
          </a:xfrm>
          <a:prstGeom prst="rect">
            <a:avLst/>
          </a:prstGeom>
          <a:noFill/>
          <a:ln/>
        </p:spPr>
        <p:txBody>
          <a:bodyPr wrap="square" rtlCol="0" anchor="ctr"/>
          <a:lstStyle/>
          <a:p>
            <a:pPr marL="0" indent="0">
              <a:buNone/>
            </a:pPr>
            <a:r>
              <a:rPr lang="en-US" sz="1500" dirty="0">
                <a:solidFill>
                  <a:srgbClr val="1A1A1A"/>
                </a:solidFill>
                <a:latin typeface="Calibri" pitchFamily="34" charset="0"/>
                <a:ea typeface="Calibri" pitchFamily="34" charset="-122"/>
                <a:cs typeface="Calibri" pitchFamily="34" charset="-120"/>
              </a:rPr>
              <a:t>Key Findings</a:t>
            </a:r>
            <a:endParaRPr lang="en-US" sz="1500" dirty="0"/>
          </a:p>
        </p:txBody>
      </p:sp>
      <p:sp>
        <p:nvSpPr>
          <p:cNvPr id="19" name="Shape 17"/>
          <p:cNvSpPr/>
          <p:nvPr/>
        </p:nvSpPr>
        <p:spPr>
          <a:xfrm>
            <a:off x="4846320" y="1920240"/>
            <a:ext cx="502920" cy="502920"/>
          </a:xfrm>
          <a:prstGeom prst="rect">
            <a:avLst/>
          </a:prstGeom>
          <a:solidFill>
            <a:srgbClr val="2E7D32"/>
          </a:solidFill>
          <a:ln w="12700">
            <a:solidFill>
              <a:srgbClr val="2E7D32"/>
            </a:solidFill>
            <a:prstDash val="solid"/>
          </a:ln>
        </p:spPr>
      </p:sp>
      <p:sp>
        <p:nvSpPr>
          <p:cNvPr id="20" name="Text 18"/>
          <p:cNvSpPr/>
          <p:nvPr/>
        </p:nvSpPr>
        <p:spPr>
          <a:xfrm>
            <a:off x="4846320" y="1938528"/>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06</a:t>
            </a:r>
            <a:endParaRPr lang="en-US" sz="1600" dirty="0"/>
          </a:p>
        </p:txBody>
      </p:sp>
      <p:sp>
        <p:nvSpPr>
          <p:cNvPr id="21" name="Text 19"/>
          <p:cNvSpPr/>
          <p:nvPr/>
        </p:nvSpPr>
        <p:spPr>
          <a:xfrm>
            <a:off x="5440680" y="1965960"/>
            <a:ext cx="3566160" cy="457200"/>
          </a:xfrm>
          <a:prstGeom prst="rect">
            <a:avLst/>
          </a:prstGeom>
          <a:noFill/>
          <a:ln/>
        </p:spPr>
        <p:txBody>
          <a:bodyPr wrap="square" rtlCol="0" anchor="ctr"/>
          <a:lstStyle/>
          <a:p>
            <a:pPr marL="0" indent="0">
              <a:buNone/>
            </a:pPr>
            <a:r>
              <a:rPr lang="en-US" sz="1500" dirty="0">
                <a:solidFill>
                  <a:srgbClr val="1A1A1A"/>
                </a:solidFill>
                <a:latin typeface="Calibri" pitchFamily="34" charset="0"/>
                <a:ea typeface="Calibri" pitchFamily="34" charset="-122"/>
                <a:cs typeface="Calibri" pitchFamily="34" charset="-120"/>
              </a:rPr>
              <a:t>Dashboard Demo</a:t>
            </a:r>
            <a:endParaRPr lang="en-US" sz="1500" dirty="0"/>
          </a:p>
        </p:txBody>
      </p:sp>
      <p:sp>
        <p:nvSpPr>
          <p:cNvPr id="22" name="Shape 20"/>
          <p:cNvSpPr/>
          <p:nvPr/>
        </p:nvSpPr>
        <p:spPr>
          <a:xfrm>
            <a:off x="4846320" y="2880360"/>
            <a:ext cx="502920" cy="502920"/>
          </a:xfrm>
          <a:prstGeom prst="rect">
            <a:avLst/>
          </a:prstGeom>
          <a:solidFill>
            <a:srgbClr val="2E7D32"/>
          </a:solidFill>
          <a:ln w="12700">
            <a:solidFill>
              <a:srgbClr val="2E7D32"/>
            </a:solidFill>
            <a:prstDash val="solid"/>
          </a:ln>
        </p:spPr>
      </p:sp>
      <p:sp>
        <p:nvSpPr>
          <p:cNvPr id="23" name="Text 21"/>
          <p:cNvSpPr/>
          <p:nvPr/>
        </p:nvSpPr>
        <p:spPr>
          <a:xfrm>
            <a:off x="4846320" y="2898648"/>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07</a:t>
            </a:r>
            <a:endParaRPr lang="en-US" sz="1600" dirty="0"/>
          </a:p>
        </p:txBody>
      </p:sp>
      <p:sp>
        <p:nvSpPr>
          <p:cNvPr id="24" name="Text 22"/>
          <p:cNvSpPr/>
          <p:nvPr/>
        </p:nvSpPr>
        <p:spPr>
          <a:xfrm>
            <a:off x="5440680" y="2926080"/>
            <a:ext cx="3566160" cy="457200"/>
          </a:xfrm>
          <a:prstGeom prst="rect">
            <a:avLst/>
          </a:prstGeom>
          <a:noFill/>
          <a:ln/>
        </p:spPr>
        <p:txBody>
          <a:bodyPr wrap="square" rtlCol="0" anchor="ctr"/>
          <a:lstStyle/>
          <a:p>
            <a:pPr marL="0" indent="0">
              <a:buNone/>
            </a:pPr>
            <a:r>
              <a:rPr lang="en-US" sz="1500" dirty="0">
                <a:solidFill>
                  <a:srgbClr val="1A1A1A"/>
                </a:solidFill>
                <a:latin typeface="Calibri" pitchFamily="34" charset="0"/>
                <a:ea typeface="Calibri" pitchFamily="34" charset="-122"/>
                <a:cs typeface="Calibri" pitchFamily="34" charset="-120"/>
              </a:rPr>
              <a:t>Roles &amp; Responsibilities</a:t>
            </a:r>
            <a:endParaRPr lang="en-US" sz="1500" dirty="0"/>
          </a:p>
        </p:txBody>
      </p:sp>
      <p:sp>
        <p:nvSpPr>
          <p:cNvPr id="25" name="Shape 23"/>
          <p:cNvSpPr/>
          <p:nvPr/>
        </p:nvSpPr>
        <p:spPr>
          <a:xfrm>
            <a:off x="4846320" y="3840480"/>
            <a:ext cx="502920" cy="502920"/>
          </a:xfrm>
          <a:prstGeom prst="rect">
            <a:avLst/>
          </a:prstGeom>
          <a:solidFill>
            <a:srgbClr val="2E7D32"/>
          </a:solidFill>
          <a:ln w="12700">
            <a:solidFill>
              <a:srgbClr val="2E7D32"/>
            </a:solidFill>
            <a:prstDash val="solid"/>
          </a:ln>
        </p:spPr>
      </p:sp>
      <p:sp>
        <p:nvSpPr>
          <p:cNvPr id="26" name="Text 24"/>
          <p:cNvSpPr/>
          <p:nvPr/>
        </p:nvSpPr>
        <p:spPr>
          <a:xfrm>
            <a:off x="4846320" y="3858768"/>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08</a:t>
            </a:r>
            <a:endParaRPr lang="en-US" sz="1600" dirty="0"/>
          </a:p>
        </p:txBody>
      </p:sp>
      <p:sp>
        <p:nvSpPr>
          <p:cNvPr id="27" name="Text 25"/>
          <p:cNvSpPr/>
          <p:nvPr/>
        </p:nvSpPr>
        <p:spPr>
          <a:xfrm>
            <a:off x="5440680" y="3886200"/>
            <a:ext cx="3566160" cy="457200"/>
          </a:xfrm>
          <a:prstGeom prst="rect">
            <a:avLst/>
          </a:prstGeom>
          <a:noFill/>
          <a:ln/>
        </p:spPr>
        <p:txBody>
          <a:bodyPr wrap="square" rtlCol="0" anchor="ctr"/>
          <a:lstStyle/>
          <a:p>
            <a:pPr marL="0" indent="0">
              <a:buNone/>
            </a:pPr>
            <a:r>
              <a:rPr lang="en-US" sz="1500" dirty="0">
                <a:solidFill>
                  <a:srgbClr val="1A1A1A"/>
                </a:solidFill>
                <a:latin typeface="Calibri" pitchFamily="34" charset="0"/>
                <a:ea typeface="Calibri" pitchFamily="34" charset="-122"/>
                <a:cs typeface="Calibri" pitchFamily="34" charset="-120"/>
              </a:rPr>
              <a:t>Conclusion</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9FBF9"/>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2E7D32"/>
          </a:solidFill>
          <a:ln w="12700">
            <a:solidFill>
              <a:srgbClr val="2E7D32"/>
            </a:solidFill>
            <a:prstDash val="solid"/>
          </a:ln>
        </p:spPr>
      </p:sp>
      <p:sp>
        <p:nvSpPr>
          <p:cNvPr id="3" name="Text 1"/>
          <p:cNvSpPr/>
          <p:nvPr/>
        </p:nvSpPr>
        <p:spPr>
          <a:xfrm>
            <a:off x="365760" y="91440"/>
            <a:ext cx="8229600" cy="59436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Project Overview</a:t>
            </a:r>
            <a:endParaRPr lang="en-US" sz="2800" dirty="0"/>
          </a:p>
        </p:txBody>
      </p:sp>
      <p:sp>
        <p:nvSpPr>
          <p:cNvPr id="4" name="Shape 2"/>
          <p:cNvSpPr/>
          <p:nvPr/>
        </p:nvSpPr>
        <p:spPr>
          <a:xfrm>
            <a:off x="274320" y="960120"/>
            <a:ext cx="8595360" cy="1188720"/>
          </a:xfrm>
          <a:prstGeom prst="rect">
            <a:avLst/>
          </a:prstGeom>
          <a:solidFill>
            <a:srgbClr val="E8F5E9"/>
          </a:solidFill>
          <a:ln w="12700">
            <a:solidFill>
              <a:srgbClr val="A5D6A7"/>
            </a:solidFill>
            <a:prstDash val="solid"/>
          </a:ln>
        </p:spPr>
      </p:sp>
      <p:sp>
        <p:nvSpPr>
          <p:cNvPr id="5" name="Shape 3"/>
          <p:cNvSpPr/>
          <p:nvPr/>
        </p:nvSpPr>
        <p:spPr>
          <a:xfrm>
            <a:off x="274320" y="960120"/>
            <a:ext cx="109728" cy="1188720"/>
          </a:xfrm>
          <a:prstGeom prst="rect">
            <a:avLst/>
          </a:prstGeom>
          <a:solidFill>
            <a:srgbClr val="2E7D32"/>
          </a:solidFill>
          <a:ln w="12700">
            <a:solidFill>
              <a:srgbClr val="2E7D32"/>
            </a:solidFill>
            <a:prstDash val="solid"/>
          </a:ln>
        </p:spPr>
      </p:sp>
      <p:sp>
        <p:nvSpPr>
          <p:cNvPr id="6" name="Text 4"/>
          <p:cNvSpPr/>
          <p:nvPr/>
        </p:nvSpPr>
        <p:spPr>
          <a:xfrm>
            <a:off x="502920" y="1005840"/>
            <a:ext cx="1828800" cy="347472"/>
          </a:xfrm>
          <a:prstGeom prst="rect">
            <a:avLst/>
          </a:prstGeom>
          <a:noFill/>
          <a:ln/>
        </p:spPr>
        <p:txBody>
          <a:bodyPr wrap="square" rtlCol="0" anchor="ctr"/>
          <a:lstStyle/>
          <a:p>
            <a:pPr marL="0" indent="0">
              <a:buNone/>
            </a:pPr>
            <a:r>
              <a:rPr lang="en-US" sz="1300" b="1" dirty="0">
                <a:solidFill>
                  <a:srgbClr val="2E7D32"/>
                </a:solidFill>
                <a:latin typeface="Calibri" pitchFamily="34" charset="0"/>
                <a:ea typeface="Calibri" pitchFamily="34" charset="-122"/>
                <a:cs typeface="Calibri" pitchFamily="34" charset="-120"/>
              </a:rPr>
              <a:t>Objective</a:t>
            </a:r>
            <a:endParaRPr lang="en-US" sz="1300" dirty="0"/>
          </a:p>
        </p:txBody>
      </p:sp>
      <p:sp>
        <p:nvSpPr>
          <p:cNvPr id="7" name="Text 5"/>
          <p:cNvSpPr/>
          <p:nvPr/>
        </p:nvSpPr>
        <p:spPr>
          <a:xfrm>
            <a:off x="502920" y="1353312"/>
            <a:ext cx="8229600" cy="73152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Analyze recycling awareness and recycling rates across different regions using publicly available data. Focus on Plastic, Paper, Glass, and Metal. Identify trends and regional differences using statistical methods. Present results through an interactive HTML dashboard.</a:t>
            </a:r>
            <a:endParaRPr lang="en-US" sz="1300" dirty="0"/>
          </a:p>
        </p:txBody>
      </p:sp>
      <p:sp>
        <p:nvSpPr>
          <p:cNvPr id="8" name="Shape 6"/>
          <p:cNvSpPr/>
          <p:nvPr/>
        </p:nvSpPr>
        <p:spPr>
          <a:xfrm>
            <a:off x="274320" y="2377440"/>
            <a:ext cx="2011680" cy="2377440"/>
          </a:xfrm>
          <a:prstGeom prst="rect">
            <a:avLst/>
          </a:prstGeom>
          <a:solidFill>
            <a:srgbClr val="FFFFFF"/>
          </a:solidFill>
          <a:ln w="12700">
            <a:solidFill>
              <a:srgbClr val="C8E6C9"/>
            </a:solidFill>
            <a:prstDash val="solid"/>
          </a:ln>
        </p:spPr>
      </p:sp>
      <p:sp>
        <p:nvSpPr>
          <p:cNvPr id="9" name="Shape 7"/>
          <p:cNvSpPr/>
          <p:nvPr/>
        </p:nvSpPr>
        <p:spPr>
          <a:xfrm>
            <a:off x="274320" y="2377440"/>
            <a:ext cx="2011680" cy="530352"/>
          </a:xfrm>
          <a:prstGeom prst="rect">
            <a:avLst/>
          </a:prstGeom>
          <a:solidFill>
            <a:srgbClr val="2E7D32"/>
          </a:solidFill>
          <a:ln w="12700">
            <a:solidFill>
              <a:srgbClr val="2E7D32"/>
            </a:solidFill>
            <a:prstDash val="solid"/>
          </a:ln>
        </p:spPr>
      </p:sp>
      <p:sp>
        <p:nvSpPr>
          <p:cNvPr id="10" name="Text 8"/>
          <p:cNvSpPr/>
          <p:nvPr/>
        </p:nvSpPr>
        <p:spPr>
          <a:xfrm>
            <a:off x="274320" y="2450592"/>
            <a:ext cx="2011680" cy="41148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Materials</a:t>
            </a:r>
            <a:endParaRPr lang="en-US" sz="1500" dirty="0"/>
          </a:p>
        </p:txBody>
      </p:sp>
      <p:sp>
        <p:nvSpPr>
          <p:cNvPr id="11" name="Text 9"/>
          <p:cNvSpPr/>
          <p:nvPr/>
        </p:nvSpPr>
        <p:spPr>
          <a:xfrm>
            <a:off x="274320" y="3017520"/>
            <a:ext cx="2011680" cy="64008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12" name="Text 10"/>
          <p:cNvSpPr/>
          <p:nvPr/>
        </p:nvSpPr>
        <p:spPr>
          <a:xfrm>
            <a:off x="274320" y="3749040"/>
            <a:ext cx="2011680" cy="822960"/>
          </a:xfrm>
          <a:prstGeom prst="rect">
            <a:avLst/>
          </a:prstGeom>
          <a:noFill/>
          <a:ln/>
        </p:spPr>
        <p:txBody>
          <a:bodyPr wrap="square" rtlCol="0" anchor="ctr"/>
          <a:lstStyle/>
          <a:p>
            <a:pPr marL="0" indent="0" algn="ctr">
              <a:buNone/>
            </a:pPr>
            <a:r>
              <a:rPr lang="en-US" sz="1200" dirty="0">
                <a:solidFill>
                  <a:srgbClr val="546E7A"/>
                </a:solidFill>
                <a:latin typeface="Calibri" pitchFamily="34" charset="0"/>
                <a:ea typeface="Calibri" pitchFamily="34" charset="-122"/>
                <a:cs typeface="Calibri" pitchFamily="34" charset="-120"/>
              </a:rPr>
              <a:t>Plastic · Paper</a:t>
            </a:r>
            <a:endParaRPr lang="en-US" sz="1200" dirty="0"/>
          </a:p>
          <a:p>
            <a:pPr marL="0" indent="0" algn="ctr">
              <a:buNone/>
            </a:pPr>
            <a:r>
              <a:rPr lang="en-US" sz="1200" dirty="0">
                <a:solidFill>
                  <a:srgbClr val="546E7A"/>
                </a:solidFill>
                <a:latin typeface="Calibri" pitchFamily="34" charset="0"/>
                <a:ea typeface="Calibri" pitchFamily="34" charset="-122"/>
                <a:cs typeface="Calibri" pitchFamily="34" charset="-120"/>
              </a:rPr>
              <a:t>Glass · Metal</a:t>
            </a:r>
            <a:endParaRPr lang="en-US" sz="1200" dirty="0"/>
          </a:p>
        </p:txBody>
      </p:sp>
      <p:sp>
        <p:nvSpPr>
          <p:cNvPr id="13" name="Shape 11"/>
          <p:cNvSpPr/>
          <p:nvPr/>
        </p:nvSpPr>
        <p:spPr>
          <a:xfrm>
            <a:off x="2450592" y="2377440"/>
            <a:ext cx="2011680" cy="2377440"/>
          </a:xfrm>
          <a:prstGeom prst="rect">
            <a:avLst/>
          </a:prstGeom>
          <a:solidFill>
            <a:srgbClr val="FFFFFF"/>
          </a:solidFill>
          <a:ln w="12700">
            <a:solidFill>
              <a:srgbClr val="C8E6C9"/>
            </a:solidFill>
            <a:prstDash val="solid"/>
          </a:ln>
        </p:spPr>
      </p:sp>
      <p:sp>
        <p:nvSpPr>
          <p:cNvPr id="14" name="Shape 12"/>
          <p:cNvSpPr/>
          <p:nvPr/>
        </p:nvSpPr>
        <p:spPr>
          <a:xfrm>
            <a:off x="2450592" y="2377440"/>
            <a:ext cx="2011680" cy="530352"/>
          </a:xfrm>
          <a:prstGeom prst="rect">
            <a:avLst/>
          </a:prstGeom>
          <a:solidFill>
            <a:srgbClr val="2E7D32"/>
          </a:solidFill>
          <a:ln w="12700">
            <a:solidFill>
              <a:srgbClr val="2E7D32"/>
            </a:solidFill>
            <a:prstDash val="solid"/>
          </a:ln>
        </p:spPr>
      </p:sp>
      <p:sp>
        <p:nvSpPr>
          <p:cNvPr id="15" name="Text 13"/>
          <p:cNvSpPr/>
          <p:nvPr/>
        </p:nvSpPr>
        <p:spPr>
          <a:xfrm>
            <a:off x="2450592" y="2450592"/>
            <a:ext cx="2011680" cy="41148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Regions</a:t>
            </a:r>
            <a:endParaRPr lang="en-US" sz="1500" dirty="0"/>
          </a:p>
        </p:txBody>
      </p:sp>
      <p:sp>
        <p:nvSpPr>
          <p:cNvPr id="16" name="Text 14"/>
          <p:cNvSpPr/>
          <p:nvPr/>
        </p:nvSpPr>
        <p:spPr>
          <a:xfrm>
            <a:off x="2450592" y="3017520"/>
            <a:ext cx="2011680" cy="64008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17" name="Text 15"/>
          <p:cNvSpPr/>
          <p:nvPr/>
        </p:nvSpPr>
        <p:spPr>
          <a:xfrm>
            <a:off x="2450592" y="3749040"/>
            <a:ext cx="2011680" cy="822960"/>
          </a:xfrm>
          <a:prstGeom prst="rect">
            <a:avLst/>
          </a:prstGeom>
          <a:noFill/>
          <a:ln/>
        </p:spPr>
        <p:txBody>
          <a:bodyPr wrap="square" rtlCol="0" anchor="ctr"/>
          <a:lstStyle/>
          <a:p>
            <a:pPr marL="0" indent="0" algn="ctr">
              <a:buNone/>
            </a:pPr>
            <a:r>
              <a:rPr lang="en-US" sz="1200" dirty="0">
                <a:solidFill>
                  <a:srgbClr val="546E7A"/>
                </a:solidFill>
                <a:latin typeface="Calibri" pitchFamily="34" charset="0"/>
                <a:ea typeface="Calibri" pitchFamily="34" charset="-122"/>
                <a:cs typeface="Calibri" pitchFamily="34" charset="-120"/>
              </a:rPr>
              <a:t>US National</a:t>
            </a:r>
            <a:endParaRPr lang="en-US" sz="1200" dirty="0"/>
          </a:p>
          <a:p>
            <a:pPr marL="0" indent="0" algn="ctr">
              <a:buNone/>
            </a:pPr>
            <a:r>
              <a:rPr lang="en-US" sz="1200" dirty="0">
                <a:solidFill>
                  <a:srgbClr val="546E7A"/>
                </a:solidFill>
                <a:latin typeface="Calibri" pitchFamily="34" charset="0"/>
                <a:ea typeface="Calibri" pitchFamily="34" charset="-122"/>
                <a:cs typeface="Calibri" pitchFamily="34" charset="-120"/>
              </a:rPr>
              <a:t>8 States · 15 Countries</a:t>
            </a:r>
            <a:endParaRPr lang="en-US" sz="1200" dirty="0"/>
          </a:p>
        </p:txBody>
      </p:sp>
      <p:sp>
        <p:nvSpPr>
          <p:cNvPr id="18" name="Shape 16"/>
          <p:cNvSpPr/>
          <p:nvPr/>
        </p:nvSpPr>
        <p:spPr>
          <a:xfrm>
            <a:off x="4626864" y="2377440"/>
            <a:ext cx="2011680" cy="2377440"/>
          </a:xfrm>
          <a:prstGeom prst="rect">
            <a:avLst/>
          </a:prstGeom>
          <a:solidFill>
            <a:srgbClr val="FFFFFF"/>
          </a:solidFill>
          <a:ln w="12700">
            <a:solidFill>
              <a:srgbClr val="C8E6C9"/>
            </a:solidFill>
            <a:prstDash val="solid"/>
          </a:ln>
        </p:spPr>
      </p:sp>
      <p:sp>
        <p:nvSpPr>
          <p:cNvPr id="19" name="Shape 17"/>
          <p:cNvSpPr/>
          <p:nvPr/>
        </p:nvSpPr>
        <p:spPr>
          <a:xfrm>
            <a:off x="4626864" y="2377440"/>
            <a:ext cx="2011680" cy="530352"/>
          </a:xfrm>
          <a:prstGeom prst="rect">
            <a:avLst/>
          </a:prstGeom>
          <a:solidFill>
            <a:srgbClr val="2E7D32"/>
          </a:solidFill>
          <a:ln w="12700">
            <a:solidFill>
              <a:srgbClr val="2E7D32"/>
            </a:solidFill>
            <a:prstDash val="solid"/>
          </a:ln>
        </p:spPr>
      </p:sp>
      <p:sp>
        <p:nvSpPr>
          <p:cNvPr id="20" name="Text 18"/>
          <p:cNvSpPr/>
          <p:nvPr/>
        </p:nvSpPr>
        <p:spPr>
          <a:xfrm>
            <a:off x="4626864" y="2450592"/>
            <a:ext cx="2011680" cy="41148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Methods</a:t>
            </a:r>
            <a:endParaRPr lang="en-US" sz="1500" dirty="0"/>
          </a:p>
        </p:txBody>
      </p:sp>
      <p:sp>
        <p:nvSpPr>
          <p:cNvPr id="21" name="Text 19"/>
          <p:cNvSpPr/>
          <p:nvPr/>
        </p:nvSpPr>
        <p:spPr>
          <a:xfrm>
            <a:off x="4626864" y="3017520"/>
            <a:ext cx="2011680" cy="64008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22" name="Text 20"/>
          <p:cNvSpPr/>
          <p:nvPr/>
        </p:nvSpPr>
        <p:spPr>
          <a:xfrm>
            <a:off x="4626864" y="3749040"/>
            <a:ext cx="2011680" cy="822960"/>
          </a:xfrm>
          <a:prstGeom prst="rect">
            <a:avLst/>
          </a:prstGeom>
          <a:noFill/>
          <a:ln/>
        </p:spPr>
        <p:txBody>
          <a:bodyPr wrap="square" rtlCol="0" anchor="ctr"/>
          <a:lstStyle/>
          <a:p>
            <a:pPr marL="0" indent="0" algn="ctr">
              <a:buNone/>
            </a:pPr>
            <a:r>
              <a:rPr lang="en-US" sz="1200" dirty="0">
                <a:solidFill>
                  <a:srgbClr val="546E7A"/>
                </a:solidFill>
                <a:latin typeface="Calibri" pitchFamily="34" charset="0"/>
                <a:ea typeface="Calibri" pitchFamily="34" charset="-122"/>
                <a:cs typeface="Calibri" pitchFamily="34" charset="-120"/>
              </a:rPr>
              <a:t>EDA · Regression</a:t>
            </a:r>
            <a:endParaRPr lang="en-US" sz="1200" dirty="0"/>
          </a:p>
          <a:p>
            <a:pPr marL="0" indent="0" algn="ctr">
              <a:buNone/>
            </a:pPr>
            <a:r>
              <a:rPr lang="en-US" sz="1200" dirty="0">
                <a:solidFill>
                  <a:srgbClr val="546E7A"/>
                </a:solidFill>
                <a:latin typeface="Calibri" pitchFamily="34" charset="0"/>
                <a:ea typeface="Calibri" pitchFamily="34" charset="-122"/>
                <a:cs typeface="Calibri" pitchFamily="34" charset="-120"/>
              </a:rPr>
              <a:t>Correlation · Stats</a:t>
            </a:r>
            <a:endParaRPr lang="en-US" sz="1200" dirty="0"/>
          </a:p>
        </p:txBody>
      </p:sp>
      <p:sp>
        <p:nvSpPr>
          <p:cNvPr id="23" name="Shape 21"/>
          <p:cNvSpPr/>
          <p:nvPr/>
        </p:nvSpPr>
        <p:spPr>
          <a:xfrm>
            <a:off x="6803136" y="2377440"/>
            <a:ext cx="2011680" cy="2377440"/>
          </a:xfrm>
          <a:prstGeom prst="rect">
            <a:avLst/>
          </a:prstGeom>
          <a:solidFill>
            <a:srgbClr val="FFFFFF"/>
          </a:solidFill>
          <a:ln w="12700">
            <a:solidFill>
              <a:srgbClr val="C8E6C9"/>
            </a:solidFill>
            <a:prstDash val="solid"/>
          </a:ln>
        </p:spPr>
      </p:sp>
      <p:sp>
        <p:nvSpPr>
          <p:cNvPr id="24" name="Shape 22"/>
          <p:cNvSpPr/>
          <p:nvPr/>
        </p:nvSpPr>
        <p:spPr>
          <a:xfrm>
            <a:off x="6803136" y="2377440"/>
            <a:ext cx="2011680" cy="530352"/>
          </a:xfrm>
          <a:prstGeom prst="rect">
            <a:avLst/>
          </a:prstGeom>
          <a:solidFill>
            <a:srgbClr val="2E7D32"/>
          </a:solidFill>
          <a:ln w="12700">
            <a:solidFill>
              <a:srgbClr val="2E7D32"/>
            </a:solidFill>
            <a:prstDash val="solid"/>
          </a:ln>
        </p:spPr>
      </p:sp>
      <p:sp>
        <p:nvSpPr>
          <p:cNvPr id="25" name="Text 23"/>
          <p:cNvSpPr/>
          <p:nvPr/>
        </p:nvSpPr>
        <p:spPr>
          <a:xfrm>
            <a:off x="6803136" y="2450592"/>
            <a:ext cx="2011680" cy="41148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Output</a:t>
            </a:r>
            <a:endParaRPr lang="en-US" sz="1500" dirty="0"/>
          </a:p>
        </p:txBody>
      </p:sp>
      <p:sp>
        <p:nvSpPr>
          <p:cNvPr id="26" name="Text 24"/>
          <p:cNvSpPr/>
          <p:nvPr/>
        </p:nvSpPr>
        <p:spPr>
          <a:xfrm>
            <a:off x="6803136" y="3017520"/>
            <a:ext cx="2011680" cy="64008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27" name="Text 25"/>
          <p:cNvSpPr/>
          <p:nvPr/>
        </p:nvSpPr>
        <p:spPr>
          <a:xfrm>
            <a:off x="6803136" y="3749040"/>
            <a:ext cx="2011680" cy="822960"/>
          </a:xfrm>
          <a:prstGeom prst="rect">
            <a:avLst/>
          </a:prstGeom>
          <a:noFill/>
          <a:ln/>
        </p:spPr>
        <p:txBody>
          <a:bodyPr wrap="square" rtlCol="0" anchor="ctr"/>
          <a:lstStyle/>
          <a:p>
            <a:pPr marL="0" indent="0" algn="ctr">
              <a:buNone/>
            </a:pPr>
            <a:r>
              <a:rPr lang="en-US" sz="1200" dirty="0">
                <a:solidFill>
                  <a:srgbClr val="546E7A"/>
                </a:solidFill>
                <a:latin typeface="Calibri" pitchFamily="34" charset="0"/>
                <a:ea typeface="Calibri" pitchFamily="34" charset="-122"/>
                <a:cs typeface="Calibri" pitchFamily="34" charset="-120"/>
              </a:rPr>
              <a:t>Flask API</a:t>
            </a:r>
            <a:endParaRPr lang="en-US" sz="1200" dirty="0"/>
          </a:p>
          <a:p>
            <a:pPr marL="0" indent="0" algn="ctr">
              <a:buNone/>
            </a:pPr>
            <a:r>
              <a:rPr lang="en-US" sz="1200" dirty="0">
                <a:solidFill>
                  <a:srgbClr val="546E7A"/>
                </a:solidFill>
                <a:latin typeface="Calibri" pitchFamily="34" charset="0"/>
                <a:ea typeface="Calibri" pitchFamily="34" charset="-122"/>
                <a:cs typeface="Calibri" pitchFamily="34" charset="-120"/>
              </a:rPr>
              <a:t>Interactive Dashboard</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9FBF9"/>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2E7D32"/>
          </a:solidFill>
          <a:ln w="12700">
            <a:solidFill>
              <a:srgbClr val="2E7D32"/>
            </a:solidFill>
            <a:prstDash val="solid"/>
          </a:ln>
        </p:spPr>
      </p:sp>
      <p:sp>
        <p:nvSpPr>
          <p:cNvPr id="3" name="Text 1"/>
          <p:cNvSpPr/>
          <p:nvPr/>
        </p:nvSpPr>
        <p:spPr>
          <a:xfrm>
            <a:off x="365760" y="91440"/>
            <a:ext cx="8229600" cy="59436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Data Collection</a:t>
            </a:r>
            <a:endParaRPr lang="en-US" sz="2800" dirty="0"/>
          </a:p>
        </p:txBody>
      </p:sp>
      <p:sp>
        <p:nvSpPr>
          <p:cNvPr id="4" name="Shape 2"/>
          <p:cNvSpPr/>
          <p:nvPr/>
        </p:nvSpPr>
        <p:spPr>
          <a:xfrm>
            <a:off x="274320" y="896112"/>
            <a:ext cx="8595360" cy="1234440"/>
          </a:xfrm>
          <a:prstGeom prst="rect">
            <a:avLst/>
          </a:prstGeom>
          <a:solidFill>
            <a:srgbClr val="FFFFFF"/>
          </a:solidFill>
          <a:ln w="12700">
            <a:solidFill>
              <a:srgbClr val="DDDDDD"/>
            </a:solidFill>
            <a:prstDash val="solid"/>
          </a:ln>
        </p:spPr>
      </p:sp>
      <p:sp>
        <p:nvSpPr>
          <p:cNvPr id="5" name="Shape 3"/>
          <p:cNvSpPr/>
          <p:nvPr/>
        </p:nvSpPr>
        <p:spPr>
          <a:xfrm>
            <a:off x="274320" y="896112"/>
            <a:ext cx="109728" cy="1234440"/>
          </a:xfrm>
          <a:prstGeom prst="rect">
            <a:avLst/>
          </a:prstGeom>
          <a:solidFill>
            <a:srgbClr val="2E7D32"/>
          </a:solidFill>
          <a:ln w="12700">
            <a:solidFill>
              <a:srgbClr val="2E7D32"/>
            </a:solidFill>
            <a:prstDash val="solid"/>
          </a:ln>
        </p:spPr>
      </p:sp>
      <p:sp>
        <p:nvSpPr>
          <p:cNvPr id="6" name="Text 4"/>
          <p:cNvSpPr/>
          <p:nvPr/>
        </p:nvSpPr>
        <p:spPr>
          <a:xfrm>
            <a:off x="502920" y="960120"/>
            <a:ext cx="8229600" cy="310896"/>
          </a:xfrm>
          <a:prstGeom prst="rect">
            <a:avLst/>
          </a:prstGeom>
          <a:noFill/>
          <a:ln/>
        </p:spPr>
        <p:txBody>
          <a:bodyPr wrap="square" rtlCol="0" anchor="ctr"/>
          <a:lstStyle/>
          <a:p>
            <a:pPr marL="0" indent="0">
              <a:buNone/>
            </a:pPr>
            <a:r>
              <a:rPr lang="en-US" sz="1300" b="1" dirty="0">
                <a:solidFill>
                  <a:srgbClr val="2E7D32"/>
                </a:solidFill>
                <a:latin typeface="Calibri" pitchFamily="34" charset="0"/>
                <a:ea typeface="Calibri" pitchFamily="34" charset="-122"/>
                <a:cs typeface="Calibri" pitchFamily="34" charset="-120"/>
              </a:rPr>
              <a:t>US National - EPA Facts &amp; Figures</a:t>
            </a:r>
            <a:endParaRPr lang="en-US" sz="1300" dirty="0"/>
          </a:p>
        </p:txBody>
      </p:sp>
      <p:sp>
        <p:nvSpPr>
          <p:cNvPr id="7" name="Text 5"/>
          <p:cNvSpPr/>
          <p:nvPr/>
        </p:nvSpPr>
        <p:spPr>
          <a:xfrm>
            <a:off x="502920" y="1307592"/>
            <a:ext cx="8229600" cy="731520"/>
          </a:xfrm>
          <a:prstGeom prst="rect">
            <a:avLst/>
          </a:prstGeom>
          <a:noFill/>
          <a:ln/>
        </p:spPr>
        <p:txBody>
          <a:bodyPr wrap="square" rtlCol="0" anchor="ctr"/>
          <a:lstStyle/>
          <a:p>
            <a:pPr marL="0" indent="0">
              <a:buNone/>
            </a:pPr>
            <a:r>
              <a:rPr lang="en-US" sz="1150" dirty="0">
                <a:solidFill>
                  <a:srgbClr val="546E7A"/>
                </a:solidFill>
                <a:latin typeface="Calibri" pitchFamily="34" charset="0"/>
                <a:ea typeface="Calibri" pitchFamily="34" charset="-122"/>
                <a:cs typeface="Calibri" pitchFamily="34" charset="-120"/>
              </a:rPr>
              <a:t>Source: US Environmental Protection Agency (EPA)   •   Coverage: United States, 1960–2018, annual   •   Materials: Plastic, Paper, Glass, Ferrous Metal   •   38 data points across 4 materials and 9 time periods   •   Recycling Rate = Tons Recycled ÷ Tons Generated × 100</a:t>
            </a:r>
            <a:endParaRPr lang="en-US" sz="1150" dirty="0"/>
          </a:p>
        </p:txBody>
      </p:sp>
      <p:sp>
        <p:nvSpPr>
          <p:cNvPr id="8" name="Shape 6"/>
          <p:cNvSpPr/>
          <p:nvPr/>
        </p:nvSpPr>
        <p:spPr>
          <a:xfrm>
            <a:off x="274320" y="2267712"/>
            <a:ext cx="8595360" cy="1234440"/>
          </a:xfrm>
          <a:prstGeom prst="rect">
            <a:avLst/>
          </a:prstGeom>
          <a:solidFill>
            <a:srgbClr val="FFFFFF"/>
          </a:solidFill>
          <a:ln w="12700">
            <a:solidFill>
              <a:srgbClr val="DDDDDD"/>
            </a:solidFill>
            <a:prstDash val="solid"/>
          </a:ln>
        </p:spPr>
      </p:sp>
      <p:sp>
        <p:nvSpPr>
          <p:cNvPr id="9" name="Shape 7"/>
          <p:cNvSpPr/>
          <p:nvPr/>
        </p:nvSpPr>
        <p:spPr>
          <a:xfrm>
            <a:off x="274320" y="2267712"/>
            <a:ext cx="109728" cy="1234440"/>
          </a:xfrm>
          <a:prstGeom prst="rect">
            <a:avLst/>
          </a:prstGeom>
          <a:solidFill>
            <a:srgbClr val="1565C0"/>
          </a:solidFill>
          <a:ln w="12700">
            <a:solidFill>
              <a:srgbClr val="1565C0"/>
            </a:solidFill>
            <a:prstDash val="solid"/>
          </a:ln>
        </p:spPr>
      </p:sp>
      <p:sp>
        <p:nvSpPr>
          <p:cNvPr id="10" name="Text 8"/>
          <p:cNvSpPr/>
          <p:nvPr/>
        </p:nvSpPr>
        <p:spPr>
          <a:xfrm>
            <a:off x="502920" y="2331720"/>
            <a:ext cx="8229600" cy="310896"/>
          </a:xfrm>
          <a:prstGeom prst="rect">
            <a:avLst/>
          </a:prstGeom>
          <a:noFill/>
          <a:ln/>
        </p:spPr>
        <p:txBody>
          <a:bodyPr wrap="square" rtlCol="0" anchor="ctr"/>
          <a:lstStyle/>
          <a:p>
            <a:pPr marL="0" indent="0">
              <a:buNone/>
            </a:pPr>
            <a:r>
              <a:rPr lang="en-US" sz="1300" b="1" dirty="0">
                <a:solidFill>
                  <a:srgbClr val="1565C0"/>
                </a:solidFill>
                <a:latin typeface="Calibri" pitchFamily="34" charset="0"/>
                <a:ea typeface="Calibri" pitchFamily="34" charset="-122"/>
                <a:cs typeface="Calibri" pitchFamily="34" charset="-120"/>
              </a:rPr>
              <a:t>US Regional - State Agency Reports</a:t>
            </a:r>
            <a:endParaRPr lang="en-US" sz="1300" dirty="0"/>
          </a:p>
        </p:txBody>
      </p:sp>
      <p:sp>
        <p:nvSpPr>
          <p:cNvPr id="11" name="Text 9"/>
          <p:cNvSpPr/>
          <p:nvPr/>
        </p:nvSpPr>
        <p:spPr>
          <a:xfrm>
            <a:off x="502920" y="2679192"/>
            <a:ext cx="8229600" cy="731520"/>
          </a:xfrm>
          <a:prstGeom prst="rect">
            <a:avLst/>
          </a:prstGeom>
          <a:noFill/>
          <a:ln/>
        </p:spPr>
        <p:txBody>
          <a:bodyPr wrap="square" rtlCol="0" anchor="ctr"/>
          <a:lstStyle/>
          <a:p>
            <a:pPr marL="0" indent="0">
              <a:buNone/>
            </a:pPr>
            <a:r>
              <a:rPr lang="en-US" sz="1150" dirty="0">
                <a:solidFill>
                  <a:srgbClr val="546E7A"/>
                </a:solidFill>
                <a:latin typeface="Calibri" pitchFamily="34" charset="0"/>
                <a:ea typeface="Calibri" pitchFamily="34" charset="-122"/>
                <a:cs typeface="Calibri" pitchFamily="34" charset="-120"/>
              </a:rPr>
              <a:t>8 state environmental agency annual reports (2019–2020)   •   California, Michigan, Oregon, New York, Texas, Washington, Florida, Virginia   •   Selected for policy diversity (deposit vs non-deposit states)   •   32 data points across 8 states × 4 materials</a:t>
            </a:r>
            <a:endParaRPr lang="en-US" sz="1150" dirty="0"/>
          </a:p>
        </p:txBody>
      </p:sp>
      <p:sp>
        <p:nvSpPr>
          <p:cNvPr id="12" name="Shape 10"/>
          <p:cNvSpPr/>
          <p:nvPr/>
        </p:nvSpPr>
        <p:spPr>
          <a:xfrm>
            <a:off x="274320" y="3639312"/>
            <a:ext cx="8595360" cy="1234440"/>
          </a:xfrm>
          <a:prstGeom prst="rect">
            <a:avLst/>
          </a:prstGeom>
          <a:solidFill>
            <a:srgbClr val="FFFFFF"/>
          </a:solidFill>
          <a:ln w="12700">
            <a:solidFill>
              <a:srgbClr val="DDDDDD"/>
            </a:solidFill>
            <a:prstDash val="solid"/>
          </a:ln>
        </p:spPr>
      </p:sp>
      <p:sp>
        <p:nvSpPr>
          <p:cNvPr id="13" name="Shape 11"/>
          <p:cNvSpPr/>
          <p:nvPr/>
        </p:nvSpPr>
        <p:spPr>
          <a:xfrm>
            <a:off x="274320" y="3639312"/>
            <a:ext cx="109728" cy="1234440"/>
          </a:xfrm>
          <a:prstGeom prst="rect">
            <a:avLst/>
          </a:prstGeom>
          <a:solidFill>
            <a:srgbClr val="6A1B9A"/>
          </a:solidFill>
          <a:ln w="12700">
            <a:solidFill>
              <a:srgbClr val="6A1B9A"/>
            </a:solidFill>
            <a:prstDash val="solid"/>
          </a:ln>
        </p:spPr>
      </p:sp>
      <p:sp>
        <p:nvSpPr>
          <p:cNvPr id="14" name="Text 12"/>
          <p:cNvSpPr/>
          <p:nvPr/>
        </p:nvSpPr>
        <p:spPr>
          <a:xfrm>
            <a:off x="502920" y="3703320"/>
            <a:ext cx="8229600" cy="310896"/>
          </a:xfrm>
          <a:prstGeom prst="rect">
            <a:avLst/>
          </a:prstGeom>
          <a:noFill/>
          <a:ln/>
        </p:spPr>
        <p:txBody>
          <a:bodyPr wrap="square" rtlCol="0" anchor="ctr"/>
          <a:lstStyle/>
          <a:p>
            <a:pPr marL="0" indent="0">
              <a:buNone/>
            </a:pPr>
            <a:r>
              <a:rPr lang="en-US" sz="1300" b="1" dirty="0">
                <a:solidFill>
                  <a:srgbClr val="6A1B9A"/>
                </a:solidFill>
                <a:latin typeface="Calibri" pitchFamily="34" charset="0"/>
                <a:ea typeface="Calibri" pitchFamily="34" charset="-122"/>
                <a:cs typeface="Calibri" pitchFamily="34" charset="-120"/>
              </a:rPr>
              <a:t>Global - OECD via Our World in Data</a:t>
            </a:r>
            <a:endParaRPr lang="en-US" sz="1300" dirty="0"/>
          </a:p>
        </p:txBody>
      </p:sp>
      <p:sp>
        <p:nvSpPr>
          <p:cNvPr id="15" name="Text 13"/>
          <p:cNvSpPr/>
          <p:nvPr/>
        </p:nvSpPr>
        <p:spPr>
          <a:xfrm>
            <a:off x="502920" y="4050792"/>
            <a:ext cx="8229600" cy="731520"/>
          </a:xfrm>
          <a:prstGeom prst="rect">
            <a:avLst/>
          </a:prstGeom>
          <a:noFill/>
          <a:ln/>
        </p:spPr>
        <p:txBody>
          <a:bodyPr wrap="square" rtlCol="0" anchor="ctr"/>
          <a:lstStyle/>
          <a:p>
            <a:pPr marL="0" indent="0">
              <a:buNone/>
            </a:pPr>
            <a:r>
              <a:rPr lang="en-US" sz="1150" dirty="0">
                <a:solidFill>
                  <a:srgbClr val="546E7A"/>
                </a:solidFill>
                <a:latin typeface="Calibri" pitchFamily="34" charset="0"/>
                <a:ea typeface="Calibri" pitchFamily="34" charset="-122"/>
                <a:cs typeface="Calibri" pitchFamily="34" charset="-120"/>
              </a:rPr>
              <a:t>OECD Environment Statistics, most recent available year   •   15 countries: Germany, South Korea, Japan, US, France, UK, and more   •   Overall MSW (Municipal Solid Waste) recycling rate   •   Covers 2018–2022 depending on country reporting lag</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9FBF9"/>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2E7D32"/>
          </a:solidFill>
          <a:ln w="12700">
            <a:solidFill>
              <a:srgbClr val="2E7D32"/>
            </a:solidFill>
            <a:prstDash val="solid"/>
          </a:ln>
        </p:spPr>
      </p:sp>
      <p:sp>
        <p:nvSpPr>
          <p:cNvPr id="3" name="Text 1"/>
          <p:cNvSpPr/>
          <p:nvPr/>
        </p:nvSpPr>
        <p:spPr>
          <a:xfrm>
            <a:off x="365760" y="91440"/>
            <a:ext cx="8229600" cy="59436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Data Preprocessing Pipeline</a:t>
            </a:r>
            <a:endParaRPr lang="en-US" sz="2800" dirty="0"/>
          </a:p>
        </p:txBody>
      </p:sp>
      <p:sp>
        <p:nvSpPr>
          <p:cNvPr id="4" name="Shape 2"/>
          <p:cNvSpPr/>
          <p:nvPr/>
        </p:nvSpPr>
        <p:spPr>
          <a:xfrm>
            <a:off x="274320" y="896112"/>
            <a:ext cx="320040" cy="320040"/>
          </a:xfrm>
          <a:prstGeom prst="ellipse">
            <a:avLst/>
          </a:prstGeom>
          <a:solidFill>
            <a:srgbClr val="2E7D32"/>
          </a:solidFill>
          <a:ln w="12700">
            <a:solidFill>
              <a:srgbClr val="2E7D32"/>
            </a:solidFill>
            <a:prstDash val="solid"/>
          </a:ln>
        </p:spPr>
      </p:sp>
      <p:sp>
        <p:nvSpPr>
          <p:cNvPr id="5" name="Text 3"/>
          <p:cNvSpPr/>
          <p:nvPr/>
        </p:nvSpPr>
        <p:spPr>
          <a:xfrm>
            <a:off x="274320" y="896112"/>
            <a:ext cx="32004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6" name="Text 4"/>
          <p:cNvSpPr/>
          <p:nvPr/>
        </p:nvSpPr>
        <p:spPr>
          <a:xfrm>
            <a:off x="685800" y="896112"/>
            <a:ext cx="3200400" cy="320040"/>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Download EPA Excel file via HTTP</a:t>
            </a:r>
            <a:endParaRPr lang="en-US" sz="1200" dirty="0"/>
          </a:p>
        </p:txBody>
      </p:sp>
      <p:sp>
        <p:nvSpPr>
          <p:cNvPr id="7" name="Shape 5"/>
          <p:cNvSpPr/>
          <p:nvPr/>
        </p:nvSpPr>
        <p:spPr>
          <a:xfrm>
            <a:off x="274320" y="1472184"/>
            <a:ext cx="320040" cy="320040"/>
          </a:xfrm>
          <a:prstGeom prst="ellipse">
            <a:avLst/>
          </a:prstGeom>
          <a:solidFill>
            <a:srgbClr val="2E7D32"/>
          </a:solidFill>
          <a:ln w="12700">
            <a:solidFill>
              <a:srgbClr val="2E7D32"/>
            </a:solidFill>
            <a:prstDash val="solid"/>
          </a:ln>
        </p:spPr>
      </p:sp>
      <p:sp>
        <p:nvSpPr>
          <p:cNvPr id="8" name="Text 6"/>
          <p:cNvSpPr/>
          <p:nvPr/>
        </p:nvSpPr>
        <p:spPr>
          <a:xfrm>
            <a:off x="274320" y="1472184"/>
            <a:ext cx="32004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9" name="Text 7"/>
          <p:cNvSpPr/>
          <p:nvPr/>
        </p:nvSpPr>
        <p:spPr>
          <a:xfrm>
            <a:off x="685800" y="1472184"/>
            <a:ext cx="3200400" cy="320040"/>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Locate correct sheet per material</a:t>
            </a:r>
            <a:endParaRPr lang="en-US" sz="1200" dirty="0"/>
          </a:p>
        </p:txBody>
      </p:sp>
      <p:sp>
        <p:nvSpPr>
          <p:cNvPr id="10" name="Shape 8"/>
          <p:cNvSpPr/>
          <p:nvPr/>
        </p:nvSpPr>
        <p:spPr>
          <a:xfrm>
            <a:off x="274320" y="2048256"/>
            <a:ext cx="320040" cy="320040"/>
          </a:xfrm>
          <a:prstGeom prst="ellipse">
            <a:avLst/>
          </a:prstGeom>
          <a:solidFill>
            <a:srgbClr val="2E7D32"/>
          </a:solidFill>
          <a:ln w="12700">
            <a:solidFill>
              <a:srgbClr val="2E7D32"/>
            </a:solidFill>
            <a:prstDash val="solid"/>
          </a:ln>
        </p:spPr>
      </p:sp>
      <p:sp>
        <p:nvSpPr>
          <p:cNvPr id="11" name="Text 9"/>
          <p:cNvSpPr/>
          <p:nvPr/>
        </p:nvSpPr>
        <p:spPr>
          <a:xfrm>
            <a:off x="274320" y="2048256"/>
            <a:ext cx="32004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2" name="Text 10"/>
          <p:cNvSpPr/>
          <p:nvPr/>
        </p:nvSpPr>
        <p:spPr>
          <a:xfrm>
            <a:off x="685800" y="2048256"/>
            <a:ext cx="3200400" cy="320040"/>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Find header row containing 'Year'</a:t>
            </a:r>
            <a:endParaRPr lang="en-US" sz="1200" dirty="0"/>
          </a:p>
        </p:txBody>
      </p:sp>
      <p:sp>
        <p:nvSpPr>
          <p:cNvPr id="13" name="Shape 11"/>
          <p:cNvSpPr/>
          <p:nvPr/>
        </p:nvSpPr>
        <p:spPr>
          <a:xfrm>
            <a:off x="274320" y="2624328"/>
            <a:ext cx="320040" cy="320040"/>
          </a:xfrm>
          <a:prstGeom prst="ellipse">
            <a:avLst/>
          </a:prstGeom>
          <a:solidFill>
            <a:srgbClr val="2E7D32"/>
          </a:solidFill>
          <a:ln w="12700">
            <a:solidFill>
              <a:srgbClr val="2E7D32"/>
            </a:solidFill>
            <a:prstDash val="solid"/>
          </a:ln>
        </p:spPr>
      </p:sp>
      <p:sp>
        <p:nvSpPr>
          <p:cNvPr id="14" name="Text 12"/>
          <p:cNvSpPr/>
          <p:nvPr/>
        </p:nvSpPr>
        <p:spPr>
          <a:xfrm>
            <a:off x="274320" y="2624328"/>
            <a:ext cx="32004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5" name="Text 13"/>
          <p:cNvSpPr/>
          <p:nvPr/>
        </p:nvSpPr>
        <p:spPr>
          <a:xfrm>
            <a:off x="685800" y="2624328"/>
            <a:ext cx="3200400" cy="320040"/>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Compute Rate = Recycled ÷ Generated × 100</a:t>
            </a:r>
            <a:endParaRPr lang="en-US" sz="1200" dirty="0"/>
          </a:p>
        </p:txBody>
      </p:sp>
      <p:sp>
        <p:nvSpPr>
          <p:cNvPr id="16" name="Shape 14"/>
          <p:cNvSpPr/>
          <p:nvPr/>
        </p:nvSpPr>
        <p:spPr>
          <a:xfrm>
            <a:off x="274320" y="3200400"/>
            <a:ext cx="320040" cy="320040"/>
          </a:xfrm>
          <a:prstGeom prst="ellipse">
            <a:avLst/>
          </a:prstGeom>
          <a:solidFill>
            <a:srgbClr val="2E7D32"/>
          </a:solidFill>
          <a:ln w="12700">
            <a:solidFill>
              <a:srgbClr val="2E7D32"/>
            </a:solidFill>
            <a:prstDash val="solid"/>
          </a:ln>
        </p:spPr>
      </p:sp>
      <p:sp>
        <p:nvSpPr>
          <p:cNvPr id="17" name="Text 15"/>
          <p:cNvSpPr/>
          <p:nvPr/>
        </p:nvSpPr>
        <p:spPr>
          <a:xfrm>
            <a:off x="274320" y="3200400"/>
            <a:ext cx="32004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8" name="Text 16"/>
          <p:cNvSpPr/>
          <p:nvPr/>
        </p:nvSpPr>
        <p:spPr>
          <a:xfrm>
            <a:off x="685800" y="3200400"/>
            <a:ext cx="3200400" cy="320040"/>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Strip non-numeric chars, validate 0–100%</a:t>
            </a:r>
            <a:endParaRPr lang="en-US" sz="1200" dirty="0"/>
          </a:p>
        </p:txBody>
      </p:sp>
      <p:sp>
        <p:nvSpPr>
          <p:cNvPr id="19" name="Shape 17"/>
          <p:cNvSpPr/>
          <p:nvPr/>
        </p:nvSpPr>
        <p:spPr>
          <a:xfrm>
            <a:off x="274320" y="3776472"/>
            <a:ext cx="320040" cy="320040"/>
          </a:xfrm>
          <a:prstGeom prst="ellipse">
            <a:avLst/>
          </a:prstGeom>
          <a:solidFill>
            <a:srgbClr val="2E7D32"/>
          </a:solidFill>
          <a:ln w="12700">
            <a:solidFill>
              <a:srgbClr val="2E7D32"/>
            </a:solidFill>
            <a:prstDash val="solid"/>
          </a:ln>
        </p:spPr>
      </p:sp>
      <p:sp>
        <p:nvSpPr>
          <p:cNvPr id="20" name="Text 18"/>
          <p:cNvSpPr/>
          <p:nvPr/>
        </p:nvSpPr>
        <p:spPr>
          <a:xfrm>
            <a:off x="274320" y="3776472"/>
            <a:ext cx="32004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1" name="Text 19"/>
          <p:cNvSpPr/>
          <p:nvPr/>
        </p:nvSpPr>
        <p:spPr>
          <a:xfrm>
            <a:off x="685800" y="3776472"/>
            <a:ext cx="3200400" cy="320040"/>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Add material + geography metadata</a:t>
            </a:r>
            <a:endParaRPr lang="en-US" sz="1200" dirty="0"/>
          </a:p>
        </p:txBody>
      </p:sp>
      <p:sp>
        <p:nvSpPr>
          <p:cNvPr id="22" name="Shape 20"/>
          <p:cNvSpPr/>
          <p:nvPr/>
        </p:nvSpPr>
        <p:spPr>
          <a:xfrm>
            <a:off x="274320" y="4352544"/>
            <a:ext cx="320040" cy="320040"/>
          </a:xfrm>
          <a:prstGeom prst="ellipse">
            <a:avLst/>
          </a:prstGeom>
          <a:solidFill>
            <a:srgbClr val="2E7D32"/>
          </a:solidFill>
          <a:ln w="12700">
            <a:solidFill>
              <a:srgbClr val="2E7D32"/>
            </a:solidFill>
            <a:prstDash val="solid"/>
          </a:ln>
        </p:spPr>
      </p:sp>
      <p:sp>
        <p:nvSpPr>
          <p:cNvPr id="23" name="Text 21"/>
          <p:cNvSpPr/>
          <p:nvPr/>
        </p:nvSpPr>
        <p:spPr>
          <a:xfrm>
            <a:off x="274320" y="4352544"/>
            <a:ext cx="32004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24" name="Text 22"/>
          <p:cNvSpPr/>
          <p:nvPr/>
        </p:nvSpPr>
        <p:spPr>
          <a:xfrm>
            <a:off x="685800" y="4352544"/>
            <a:ext cx="3200400" cy="320040"/>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Export 3 clean CSVs to data/processed/</a:t>
            </a:r>
            <a:endParaRPr lang="en-US" sz="1200" dirty="0"/>
          </a:p>
        </p:txBody>
      </p:sp>
      <p:pic>
        <p:nvPicPr>
          <p:cNvPr id="29" name="Picture 28">
            <a:extLst>
              <a:ext uri="{FF2B5EF4-FFF2-40B4-BE49-F238E27FC236}">
                <a16:creationId xmlns:a16="http://schemas.microsoft.com/office/drawing/2014/main" id="{5C963BC4-0913-6B7D-A73C-BAA100149124}"/>
              </a:ext>
            </a:extLst>
          </p:cNvPr>
          <p:cNvPicPr>
            <a:picLocks noChangeAspect="1"/>
          </p:cNvPicPr>
          <p:nvPr/>
        </p:nvPicPr>
        <p:blipFill>
          <a:blip r:embed="rId3"/>
          <a:stretch>
            <a:fillRect/>
          </a:stretch>
        </p:blipFill>
        <p:spPr>
          <a:xfrm>
            <a:off x="3691641" y="1031311"/>
            <a:ext cx="5299959" cy="375658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9FBF9"/>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2E7D32"/>
          </a:solidFill>
          <a:ln w="12700">
            <a:solidFill>
              <a:srgbClr val="2E7D32"/>
            </a:solidFill>
            <a:prstDash val="solid"/>
          </a:ln>
        </p:spPr>
      </p:sp>
      <p:sp>
        <p:nvSpPr>
          <p:cNvPr id="3" name="Text 1"/>
          <p:cNvSpPr/>
          <p:nvPr/>
        </p:nvSpPr>
        <p:spPr>
          <a:xfrm>
            <a:off x="365760" y="91440"/>
            <a:ext cx="8229600" cy="59436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EDA - US National Trends (1960 - 2018)</a:t>
            </a:r>
            <a:endParaRPr lang="en-US" sz="2600" dirty="0"/>
          </a:p>
        </p:txBody>
      </p:sp>
      <p:pic>
        <p:nvPicPr>
          <p:cNvPr id="4" name="Image 0" descr="preencoded.png"/>
          <p:cNvPicPr>
            <a:picLocks noChangeAspect="1"/>
          </p:cNvPicPr>
          <p:nvPr/>
        </p:nvPicPr>
        <p:blipFill>
          <a:blip r:embed="rId3"/>
          <a:srcRect/>
          <a:stretch/>
        </p:blipFill>
        <p:spPr>
          <a:xfrm>
            <a:off x="228600" y="868680"/>
            <a:ext cx="5943600" cy="3200400"/>
          </a:xfrm>
          <a:prstGeom prst="rect">
            <a:avLst/>
          </a:prstGeom>
        </p:spPr>
      </p:pic>
      <p:sp>
        <p:nvSpPr>
          <p:cNvPr id="5" name="Shape 2"/>
          <p:cNvSpPr/>
          <p:nvPr/>
        </p:nvSpPr>
        <p:spPr>
          <a:xfrm>
            <a:off x="6355080" y="868680"/>
            <a:ext cx="2514600" cy="868680"/>
          </a:xfrm>
          <a:prstGeom prst="rect">
            <a:avLst/>
          </a:prstGeom>
          <a:solidFill>
            <a:srgbClr val="FFFFFF"/>
          </a:solidFill>
          <a:ln w="12700">
            <a:solidFill>
              <a:srgbClr val="DDDDDD"/>
            </a:solidFill>
            <a:prstDash val="solid"/>
          </a:ln>
        </p:spPr>
      </p:sp>
      <p:sp>
        <p:nvSpPr>
          <p:cNvPr id="6" name="Shape 3"/>
          <p:cNvSpPr/>
          <p:nvPr/>
        </p:nvSpPr>
        <p:spPr>
          <a:xfrm>
            <a:off x="6355080" y="868680"/>
            <a:ext cx="91440" cy="868680"/>
          </a:xfrm>
          <a:prstGeom prst="rect">
            <a:avLst/>
          </a:prstGeom>
          <a:solidFill>
            <a:srgbClr val="C62828"/>
          </a:solidFill>
          <a:ln w="12700">
            <a:solidFill>
              <a:srgbClr val="C62828"/>
            </a:solidFill>
            <a:prstDash val="solid"/>
          </a:ln>
        </p:spPr>
      </p:sp>
      <p:sp>
        <p:nvSpPr>
          <p:cNvPr id="7" name="Text 4"/>
          <p:cNvSpPr/>
          <p:nvPr/>
        </p:nvSpPr>
        <p:spPr>
          <a:xfrm>
            <a:off x="6492240" y="932688"/>
            <a:ext cx="1371600" cy="256032"/>
          </a:xfrm>
          <a:prstGeom prst="rect">
            <a:avLst/>
          </a:prstGeom>
          <a:noFill/>
          <a:ln/>
        </p:spPr>
        <p:txBody>
          <a:bodyPr wrap="square" rtlCol="0" anchor="ctr"/>
          <a:lstStyle/>
          <a:p>
            <a:pPr marL="0" indent="0">
              <a:buNone/>
            </a:pPr>
            <a:r>
              <a:rPr lang="en-US" sz="1200" b="1" dirty="0">
                <a:solidFill>
                  <a:srgbClr val="C62828"/>
                </a:solidFill>
                <a:latin typeface="Calibri" pitchFamily="34" charset="0"/>
                <a:ea typeface="Calibri" pitchFamily="34" charset="-122"/>
                <a:cs typeface="Calibri" pitchFamily="34" charset="-120"/>
              </a:rPr>
              <a:t>Plastic</a:t>
            </a:r>
            <a:endParaRPr lang="en-US" sz="1200" dirty="0"/>
          </a:p>
        </p:txBody>
      </p:sp>
      <p:sp>
        <p:nvSpPr>
          <p:cNvPr id="8" name="Text 5"/>
          <p:cNvSpPr/>
          <p:nvPr/>
        </p:nvSpPr>
        <p:spPr>
          <a:xfrm>
            <a:off x="7543800" y="905256"/>
            <a:ext cx="1280160" cy="347472"/>
          </a:xfrm>
          <a:prstGeom prst="rect">
            <a:avLst/>
          </a:prstGeom>
          <a:noFill/>
          <a:ln/>
        </p:spPr>
        <p:txBody>
          <a:bodyPr wrap="square" rtlCol="0" anchor="ctr"/>
          <a:lstStyle/>
          <a:p>
            <a:pPr marL="0" indent="0" algn="r">
              <a:buNone/>
            </a:pPr>
            <a:r>
              <a:rPr lang="en-US" sz="2200" b="1" dirty="0">
                <a:solidFill>
                  <a:srgbClr val="C62828"/>
                </a:solidFill>
                <a:latin typeface="Calibri" pitchFamily="34" charset="0"/>
                <a:ea typeface="Calibri" pitchFamily="34" charset="-122"/>
                <a:cs typeface="Calibri" pitchFamily="34" charset="-120"/>
              </a:rPr>
              <a:t>8.7%</a:t>
            </a:r>
            <a:endParaRPr lang="en-US" sz="2200" dirty="0"/>
          </a:p>
        </p:txBody>
      </p:sp>
      <p:sp>
        <p:nvSpPr>
          <p:cNvPr id="9" name="Text 6"/>
          <p:cNvSpPr/>
          <p:nvPr/>
        </p:nvSpPr>
        <p:spPr>
          <a:xfrm>
            <a:off x="6492240" y="1344168"/>
            <a:ext cx="2331720" cy="320040"/>
          </a:xfrm>
          <a:prstGeom prst="rect">
            <a:avLst/>
          </a:prstGeom>
          <a:noFill/>
          <a:ln/>
        </p:spPr>
        <p:txBody>
          <a:bodyPr wrap="square" rtlCol="0" anchor="ctr"/>
          <a:lstStyle/>
          <a:p>
            <a:pPr marL="0" indent="0">
              <a:buNone/>
            </a:pPr>
            <a:r>
              <a:rPr lang="en-US" sz="1050" dirty="0">
                <a:solidFill>
                  <a:srgbClr val="546E7A"/>
                </a:solidFill>
                <a:latin typeface="Calibri" pitchFamily="34" charset="0"/>
                <a:ea typeface="Calibri" pitchFamily="34" charset="-122"/>
                <a:cs typeface="Calibri" pitchFamily="34" charset="-120"/>
              </a:rPr>
              <a:t>Never exceeded 10% in 58 years</a:t>
            </a:r>
            <a:endParaRPr lang="en-US" sz="1050" dirty="0"/>
          </a:p>
        </p:txBody>
      </p:sp>
      <p:sp>
        <p:nvSpPr>
          <p:cNvPr id="10" name="Shape 7"/>
          <p:cNvSpPr/>
          <p:nvPr/>
        </p:nvSpPr>
        <p:spPr>
          <a:xfrm>
            <a:off x="6355080" y="1892808"/>
            <a:ext cx="2514600" cy="868680"/>
          </a:xfrm>
          <a:prstGeom prst="rect">
            <a:avLst/>
          </a:prstGeom>
          <a:solidFill>
            <a:srgbClr val="FFFFFF"/>
          </a:solidFill>
          <a:ln w="12700">
            <a:solidFill>
              <a:srgbClr val="DDDDDD"/>
            </a:solidFill>
            <a:prstDash val="solid"/>
          </a:ln>
        </p:spPr>
      </p:sp>
      <p:sp>
        <p:nvSpPr>
          <p:cNvPr id="11" name="Shape 8"/>
          <p:cNvSpPr/>
          <p:nvPr/>
        </p:nvSpPr>
        <p:spPr>
          <a:xfrm>
            <a:off x="6355080" y="1892808"/>
            <a:ext cx="91440" cy="868680"/>
          </a:xfrm>
          <a:prstGeom prst="rect">
            <a:avLst/>
          </a:prstGeom>
          <a:solidFill>
            <a:srgbClr val="2E7D32"/>
          </a:solidFill>
          <a:ln w="12700">
            <a:solidFill>
              <a:srgbClr val="2E7D32"/>
            </a:solidFill>
            <a:prstDash val="solid"/>
          </a:ln>
        </p:spPr>
      </p:sp>
      <p:sp>
        <p:nvSpPr>
          <p:cNvPr id="12" name="Text 9"/>
          <p:cNvSpPr/>
          <p:nvPr/>
        </p:nvSpPr>
        <p:spPr>
          <a:xfrm>
            <a:off x="6492240" y="1956816"/>
            <a:ext cx="1371600" cy="256032"/>
          </a:xfrm>
          <a:prstGeom prst="rect">
            <a:avLst/>
          </a:prstGeom>
          <a:noFill/>
          <a:ln/>
        </p:spPr>
        <p:txBody>
          <a:bodyPr wrap="square" rtlCol="0" anchor="ctr"/>
          <a:lstStyle/>
          <a:p>
            <a:pPr marL="0" indent="0">
              <a:buNone/>
            </a:pPr>
            <a:r>
              <a:rPr lang="en-US" sz="1200" b="1" dirty="0">
                <a:solidFill>
                  <a:srgbClr val="2E7D32"/>
                </a:solidFill>
                <a:latin typeface="Calibri" pitchFamily="34" charset="0"/>
                <a:ea typeface="Calibri" pitchFamily="34" charset="-122"/>
                <a:cs typeface="Calibri" pitchFamily="34" charset="-120"/>
              </a:rPr>
              <a:t>Paper</a:t>
            </a:r>
            <a:endParaRPr lang="en-US" sz="1200" dirty="0"/>
          </a:p>
        </p:txBody>
      </p:sp>
      <p:sp>
        <p:nvSpPr>
          <p:cNvPr id="13" name="Text 10"/>
          <p:cNvSpPr/>
          <p:nvPr/>
        </p:nvSpPr>
        <p:spPr>
          <a:xfrm>
            <a:off x="7543800" y="1929384"/>
            <a:ext cx="1280160" cy="347472"/>
          </a:xfrm>
          <a:prstGeom prst="rect">
            <a:avLst/>
          </a:prstGeom>
          <a:noFill/>
          <a:ln/>
        </p:spPr>
        <p:txBody>
          <a:bodyPr wrap="square" rtlCol="0" anchor="ctr"/>
          <a:lstStyle/>
          <a:p>
            <a:pPr marL="0" indent="0" algn="r">
              <a:buNone/>
            </a:pPr>
            <a:r>
              <a:rPr lang="en-US" sz="2200" b="1" dirty="0">
                <a:solidFill>
                  <a:srgbClr val="2E7D32"/>
                </a:solidFill>
                <a:latin typeface="Calibri" pitchFamily="34" charset="0"/>
                <a:ea typeface="Calibri" pitchFamily="34" charset="-122"/>
                <a:cs typeface="Calibri" pitchFamily="34" charset="-120"/>
              </a:rPr>
              <a:t>68.2%</a:t>
            </a:r>
            <a:endParaRPr lang="en-US" sz="2200" dirty="0"/>
          </a:p>
        </p:txBody>
      </p:sp>
      <p:sp>
        <p:nvSpPr>
          <p:cNvPr id="14" name="Text 11"/>
          <p:cNvSpPr/>
          <p:nvPr/>
        </p:nvSpPr>
        <p:spPr>
          <a:xfrm>
            <a:off x="6492240" y="2368296"/>
            <a:ext cx="2331720" cy="320040"/>
          </a:xfrm>
          <a:prstGeom prst="rect">
            <a:avLst/>
          </a:prstGeom>
          <a:noFill/>
          <a:ln/>
        </p:spPr>
        <p:txBody>
          <a:bodyPr wrap="square" rtlCol="0" anchor="ctr"/>
          <a:lstStyle/>
          <a:p>
            <a:pPr marL="0" indent="0">
              <a:buNone/>
            </a:pPr>
            <a:r>
              <a:rPr lang="en-US" sz="1050" dirty="0">
                <a:solidFill>
                  <a:srgbClr val="546E7A"/>
                </a:solidFill>
                <a:latin typeface="Calibri" pitchFamily="34" charset="0"/>
                <a:ea typeface="Calibri" pitchFamily="34" charset="-122"/>
                <a:cs typeface="Calibri" pitchFamily="34" charset="-120"/>
              </a:rPr>
              <a:t>+51.3pp from 1960 to 2018</a:t>
            </a:r>
            <a:endParaRPr lang="en-US" sz="1050" dirty="0"/>
          </a:p>
        </p:txBody>
      </p:sp>
      <p:sp>
        <p:nvSpPr>
          <p:cNvPr id="15" name="Shape 12"/>
          <p:cNvSpPr/>
          <p:nvPr/>
        </p:nvSpPr>
        <p:spPr>
          <a:xfrm>
            <a:off x="6355080" y="2916936"/>
            <a:ext cx="2514600" cy="868680"/>
          </a:xfrm>
          <a:prstGeom prst="rect">
            <a:avLst/>
          </a:prstGeom>
          <a:solidFill>
            <a:srgbClr val="FFFFFF"/>
          </a:solidFill>
          <a:ln w="12700">
            <a:solidFill>
              <a:srgbClr val="DDDDDD"/>
            </a:solidFill>
            <a:prstDash val="solid"/>
          </a:ln>
        </p:spPr>
      </p:sp>
      <p:sp>
        <p:nvSpPr>
          <p:cNvPr id="16" name="Shape 13"/>
          <p:cNvSpPr/>
          <p:nvPr/>
        </p:nvSpPr>
        <p:spPr>
          <a:xfrm>
            <a:off x="6355080" y="2916936"/>
            <a:ext cx="91440" cy="868680"/>
          </a:xfrm>
          <a:prstGeom prst="rect">
            <a:avLst/>
          </a:prstGeom>
          <a:solidFill>
            <a:srgbClr val="1565C0"/>
          </a:solidFill>
          <a:ln w="12700">
            <a:solidFill>
              <a:srgbClr val="1565C0"/>
            </a:solidFill>
            <a:prstDash val="solid"/>
          </a:ln>
        </p:spPr>
      </p:sp>
      <p:sp>
        <p:nvSpPr>
          <p:cNvPr id="17" name="Text 14"/>
          <p:cNvSpPr/>
          <p:nvPr/>
        </p:nvSpPr>
        <p:spPr>
          <a:xfrm>
            <a:off x="6492240" y="2980944"/>
            <a:ext cx="1371600" cy="256032"/>
          </a:xfrm>
          <a:prstGeom prst="rect">
            <a:avLst/>
          </a:prstGeom>
          <a:noFill/>
          <a:ln/>
        </p:spPr>
        <p:txBody>
          <a:bodyPr wrap="square" rtlCol="0" anchor="ctr"/>
          <a:lstStyle/>
          <a:p>
            <a:pPr marL="0" indent="0">
              <a:buNone/>
            </a:pPr>
            <a:r>
              <a:rPr lang="en-US" sz="1200" b="1" dirty="0">
                <a:solidFill>
                  <a:srgbClr val="1565C0"/>
                </a:solidFill>
                <a:latin typeface="Calibri" pitchFamily="34" charset="0"/>
                <a:ea typeface="Calibri" pitchFamily="34" charset="-122"/>
                <a:cs typeface="Calibri" pitchFamily="34" charset="-120"/>
              </a:rPr>
              <a:t>Glass</a:t>
            </a:r>
            <a:endParaRPr lang="en-US" sz="1200" dirty="0"/>
          </a:p>
        </p:txBody>
      </p:sp>
      <p:sp>
        <p:nvSpPr>
          <p:cNvPr id="18" name="Text 15"/>
          <p:cNvSpPr/>
          <p:nvPr/>
        </p:nvSpPr>
        <p:spPr>
          <a:xfrm>
            <a:off x="7543800" y="2953512"/>
            <a:ext cx="1280160" cy="347472"/>
          </a:xfrm>
          <a:prstGeom prst="rect">
            <a:avLst/>
          </a:prstGeom>
          <a:noFill/>
          <a:ln/>
        </p:spPr>
        <p:txBody>
          <a:bodyPr wrap="square" rtlCol="0" anchor="ctr"/>
          <a:lstStyle/>
          <a:p>
            <a:pPr marL="0" indent="0" algn="r">
              <a:buNone/>
            </a:pPr>
            <a:r>
              <a:rPr lang="en-US" sz="2200" b="1" dirty="0">
                <a:solidFill>
                  <a:srgbClr val="1565C0"/>
                </a:solidFill>
                <a:latin typeface="Calibri" pitchFamily="34" charset="0"/>
                <a:ea typeface="Calibri" pitchFamily="34" charset="-122"/>
                <a:cs typeface="Calibri" pitchFamily="34" charset="-120"/>
              </a:rPr>
              <a:t>25.0%</a:t>
            </a:r>
            <a:endParaRPr lang="en-US" sz="2200" dirty="0"/>
          </a:p>
        </p:txBody>
      </p:sp>
      <p:sp>
        <p:nvSpPr>
          <p:cNvPr id="19" name="Text 16"/>
          <p:cNvSpPr/>
          <p:nvPr/>
        </p:nvSpPr>
        <p:spPr>
          <a:xfrm>
            <a:off x="6492240" y="3392424"/>
            <a:ext cx="2331720" cy="320040"/>
          </a:xfrm>
          <a:prstGeom prst="rect">
            <a:avLst/>
          </a:prstGeom>
          <a:noFill/>
          <a:ln/>
        </p:spPr>
        <p:txBody>
          <a:bodyPr wrap="square" rtlCol="0" anchor="ctr"/>
          <a:lstStyle/>
          <a:p>
            <a:pPr marL="0" indent="0">
              <a:buNone/>
            </a:pPr>
            <a:r>
              <a:rPr lang="en-US" sz="1050" dirty="0">
                <a:solidFill>
                  <a:srgbClr val="546E7A"/>
                </a:solidFill>
                <a:latin typeface="Calibri" pitchFamily="34" charset="0"/>
                <a:ea typeface="Calibri" pitchFamily="34" charset="-122"/>
                <a:cs typeface="Calibri" pitchFamily="34" charset="-120"/>
              </a:rPr>
              <a:t>Peaked ~2010, slight decline after</a:t>
            </a:r>
            <a:endParaRPr lang="en-US" sz="1050" dirty="0"/>
          </a:p>
        </p:txBody>
      </p:sp>
      <p:sp>
        <p:nvSpPr>
          <p:cNvPr id="20" name="Shape 17"/>
          <p:cNvSpPr/>
          <p:nvPr/>
        </p:nvSpPr>
        <p:spPr>
          <a:xfrm>
            <a:off x="6355080" y="3941064"/>
            <a:ext cx="2514600" cy="868680"/>
          </a:xfrm>
          <a:prstGeom prst="rect">
            <a:avLst/>
          </a:prstGeom>
          <a:solidFill>
            <a:srgbClr val="FFFFFF"/>
          </a:solidFill>
          <a:ln w="12700">
            <a:solidFill>
              <a:srgbClr val="DDDDDD"/>
            </a:solidFill>
            <a:prstDash val="solid"/>
          </a:ln>
        </p:spPr>
      </p:sp>
      <p:sp>
        <p:nvSpPr>
          <p:cNvPr id="21" name="Shape 18"/>
          <p:cNvSpPr/>
          <p:nvPr/>
        </p:nvSpPr>
        <p:spPr>
          <a:xfrm>
            <a:off x="6355080" y="3941064"/>
            <a:ext cx="91440" cy="868680"/>
          </a:xfrm>
          <a:prstGeom prst="rect">
            <a:avLst/>
          </a:prstGeom>
          <a:solidFill>
            <a:srgbClr val="F57F17"/>
          </a:solidFill>
          <a:ln w="12700">
            <a:solidFill>
              <a:srgbClr val="F57F17"/>
            </a:solidFill>
            <a:prstDash val="solid"/>
          </a:ln>
        </p:spPr>
      </p:sp>
      <p:sp>
        <p:nvSpPr>
          <p:cNvPr id="22" name="Text 19"/>
          <p:cNvSpPr/>
          <p:nvPr/>
        </p:nvSpPr>
        <p:spPr>
          <a:xfrm>
            <a:off x="6492240" y="4005072"/>
            <a:ext cx="1371600" cy="256032"/>
          </a:xfrm>
          <a:prstGeom prst="rect">
            <a:avLst/>
          </a:prstGeom>
          <a:noFill/>
          <a:ln/>
        </p:spPr>
        <p:txBody>
          <a:bodyPr wrap="square" rtlCol="0" anchor="ctr"/>
          <a:lstStyle/>
          <a:p>
            <a:pPr marL="0" indent="0">
              <a:buNone/>
            </a:pPr>
            <a:r>
              <a:rPr lang="en-US" sz="1200" b="1" dirty="0">
                <a:solidFill>
                  <a:srgbClr val="F57F17"/>
                </a:solidFill>
                <a:latin typeface="Calibri" pitchFamily="34" charset="0"/>
                <a:ea typeface="Calibri" pitchFamily="34" charset="-122"/>
                <a:cs typeface="Calibri" pitchFamily="34" charset="-120"/>
              </a:rPr>
              <a:t>Metal</a:t>
            </a:r>
            <a:endParaRPr lang="en-US" sz="1200" dirty="0"/>
          </a:p>
        </p:txBody>
      </p:sp>
      <p:sp>
        <p:nvSpPr>
          <p:cNvPr id="23" name="Text 20"/>
          <p:cNvSpPr/>
          <p:nvPr/>
        </p:nvSpPr>
        <p:spPr>
          <a:xfrm>
            <a:off x="7543800" y="3977640"/>
            <a:ext cx="1280160" cy="347472"/>
          </a:xfrm>
          <a:prstGeom prst="rect">
            <a:avLst/>
          </a:prstGeom>
          <a:noFill/>
          <a:ln/>
        </p:spPr>
        <p:txBody>
          <a:bodyPr wrap="square" rtlCol="0" anchor="ctr"/>
          <a:lstStyle/>
          <a:p>
            <a:pPr marL="0" indent="0" algn="r">
              <a:buNone/>
            </a:pPr>
            <a:r>
              <a:rPr lang="en-US" sz="2200" b="1" dirty="0">
                <a:solidFill>
                  <a:srgbClr val="F57F17"/>
                </a:solidFill>
                <a:latin typeface="Calibri" pitchFamily="34" charset="0"/>
                <a:ea typeface="Calibri" pitchFamily="34" charset="-122"/>
                <a:cs typeface="Calibri" pitchFamily="34" charset="-120"/>
              </a:rPr>
              <a:t>34.1%</a:t>
            </a:r>
            <a:endParaRPr lang="en-US" sz="2200" dirty="0"/>
          </a:p>
        </p:txBody>
      </p:sp>
      <p:sp>
        <p:nvSpPr>
          <p:cNvPr id="24" name="Text 21"/>
          <p:cNvSpPr/>
          <p:nvPr/>
        </p:nvSpPr>
        <p:spPr>
          <a:xfrm>
            <a:off x="6492240" y="4416552"/>
            <a:ext cx="2331720" cy="320040"/>
          </a:xfrm>
          <a:prstGeom prst="rect">
            <a:avLst/>
          </a:prstGeom>
          <a:noFill/>
          <a:ln/>
        </p:spPr>
        <p:txBody>
          <a:bodyPr wrap="square" rtlCol="0" anchor="ctr"/>
          <a:lstStyle/>
          <a:p>
            <a:pPr marL="0" indent="0">
              <a:buNone/>
            </a:pPr>
            <a:r>
              <a:rPr lang="en-US" sz="1050" dirty="0">
                <a:solidFill>
                  <a:srgbClr val="546E7A"/>
                </a:solidFill>
                <a:latin typeface="Calibri" pitchFamily="34" charset="0"/>
                <a:ea typeface="Calibri" pitchFamily="34" charset="-122"/>
                <a:cs typeface="Calibri" pitchFamily="34" charset="-120"/>
              </a:rPr>
              <a:t>70× growth since 1960 (0.5%→34%)</a:t>
            </a:r>
            <a:endParaRPr lang="en-US" sz="1050" dirty="0"/>
          </a:p>
        </p:txBody>
      </p:sp>
      <p:sp>
        <p:nvSpPr>
          <p:cNvPr id="25" name="Text 22"/>
          <p:cNvSpPr/>
          <p:nvPr/>
        </p:nvSpPr>
        <p:spPr>
          <a:xfrm>
            <a:off x="228600" y="4187952"/>
            <a:ext cx="5943600" cy="347472"/>
          </a:xfrm>
          <a:prstGeom prst="rect">
            <a:avLst/>
          </a:prstGeom>
          <a:noFill/>
          <a:ln/>
        </p:spPr>
        <p:txBody>
          <a:bodyPr wrap="square" rtlCol="0" anchor="ctr"/>
          <a:lstStyle/>
          <a:p>
            <a:pPr marL="0" indent="0">
              <a:buNone/>
            </a:pPr>
            <a:r>
              <a:rPr lang="en-US" sz="1100" i="1" dirty="0">
                <a:solidFill>
                  <a:srgbClr val="546E7A"/>
                </a:solidFill>
                <a:latin typeface="Calibri" pitchFamily="34" charset="0"/>
                <a:ea typeface="Calibri" pitchFamily="34" charset="-122"/>
                <a:cs typeface="Calibri" pitchFamily="34" charset="-120"/>
              </a:rPr>
              <a:t>All 4 materials show statistically significant upward trends (p &lt; 0.001)</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9FBF9"/>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2E7D32"/>
          </a:solidFill>
          <a:ln w="12700">
            <a:solidFill>
              <a:srgbClr val="2E7D32"/>
            </a:solidFill>
            <a:prstDash val="solid"/>
          </a:ln>
        </p:spPr>
      </p:sp>
      <p:sp>
        <p:nvSpPr>
          <p:cNvPr id="3" name="Text 1"/>
          <p:cNvSpPr/>
          <p:nvPr/>
        </p:nvSpPr>
        <p:spPr>
          <a:xfrm>
            <a:off x="365760" y="91440"/>
            <a:ext cx="8229600" cy="59436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EDA - Statistical Analysis</a:t>
            </a:r>
            <a:endParaRPr lang="en-US" sz="2800" dirty="0"/>
          </a:p>
        </p:txBody>
      </p:sp>
      <p:pic>
        <p:nvPicPr>
          <p:cNvPr id="4" name="Image 0" descr="preencoded.png"/>
          <p:cNvPicPr>
            <a:picLocks noChangeAspect="1"/>
          </p:cNvPicPr>
          <p:nvPr/>
        </p:nvPicPr>
        <p:blipFill>
          <a:blip r:embed="rId3"/>
          <a:srcRect/>
          <a:stretch/>
        </p:blipFill>
        <p:spPr>
          <a:xfrm>
            <a:off x="228600" y="868680"/>
            <a:ext cx="5029200" cy="3108960"/>
          </a:xfrm>
          <a:prstGeom prst="rect">
            <a:avLst/>
          </a:prstGeom>
        </p:spPr>
      </p:pic>
      <p:sp>
        <p:nvSpPr>
          <p:cNvPr id="5" name="Text 2"/>
          <p:cNvSpPr/>
          <p:nvPr/>
        </p:nvSpPr>
        <p:spPr>
          <a:xfrm>
            <a:off x="5440680" y="896112"/>
            <a:ext cx="3474720" cy="347472"/>
          </a:xfrm>
          <a:prstGeom prst="rect">
            <a:avLst/>
          </a:prstGeom>
          <a:noFill/>
          <a:ln/>
        </p:spPr>
        <p:txBody>
          <a:bodyPr wrap="square" rtlCol="0" anchor="ctr"/>
          <a:lstStyle/>
          <a:p>
            <a:pPr marL="0" indent="0">
              <a:buNone/>
            </a:pPr>
            <a:r>
              <a:rPr lang="en-US" sz="1400" b="1" dirty="0">
                <a:solidFill>
                  <a:srgbClr val="2E7D32"/>
                </a:solidFill>
                <a:latin typeface="Calibri" pitchFamily="34" charset="0"/>
                <a:ea typeface="Calibri" pitchFamily="34" charset="-122"/>
                <a:cs typeface="Calibri" pitchFamily="34" charset="-120"/>
              </a:rPr>
              <a:t>Linear Regression Results</a:t>
            </a:r>
            <a:endParaRPr lang="en-US" sz="1400" dirty="0"/>
          </a:p>
        </p:txBody>
      </p:sp>
      <p:sp>
        <p:nvSpPr>
          <p:cNvPr id="6" name="Shape 3"/>
          <p:cNvSpPr/>
          <p:nvPr/>
        </p:nvSpPr>
        <p:spPr>
          <a:xfrm>
            <a:off x="5440680" y="1298448"/>
            <a:ext cx="960120" cy="411480"/>
          </a:xfrm>
          <a:prstGeom prst="rect">
            <a:avLst/>
          </a:prstGeom>
          <a:solidFill>
            <a:srgbClr val="2E7D32"/>
          </a:solidFill>
          <a:ln w="12700">
            <a:solidFill>
              <a:srgbClr val="CCCCCC"/>
            </a:solidFill>
            <a:prstDash val="solid"/>
          </a:ln>
        </p:spPr>
      </p:sp>
      <p:sp>
        <p:nvSpPr>
          <p:cNvPr id="7" name="Text 4"/>
          <p:cNvSpPr/>
          <p:nvPr/>
        </p:nvSpPr>
        <p:spPr>
          <a:xfrm>
            <a:off x="5486400" y="1335024"/>
            <a:ext cx="868680" cy="33832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Material</a:t>
            </a:r>
            <a:endParaRPr lang="en-US" sz="1200" dirty="0"/>
          </a:p>
        </p:txBody>
      </p:sp>
      <p:sp>
        <p:nvSpPr>
          <p:cNvPr id="8" name="Shape 5"/>
          <p:cNvSpPr/>
          <p:nvPr/>
        </p:nvSpPr>
        <p:spPr>
          <a:xfrm>
            <a:off x="6400800" y="1298448"/>
            <a:ext cx="777240" cy="411480"/>
          </a:xfrm>
          <a:prstGeom prst="rect">
            <a:avLst/>
          </a:prstGeom>
          <a:solidFill>
            <a:srgbClr val="2E7D32"/>
          </a:solidFill>
          <a:ln w="12700">
            <a:solidFill>
              <a:srgbClr val="CCCCCC"/>
            </a:solidFill>
            <a:prstDash val="solid"/>
          </a:ln>
        </p:spPr>
      </p:sp>
      <p:sp>
        <p:nvSpPr>
          <p:cNvPr id="9" name="Text 6"/>
          <p:cNvSpPr/>
          <p:nvPr/>
        </p:nvSpPr>
        <p:spPr>
          <a:xfrm>
            <a:off x="6446520" y="1335024"/>
            <a:ext cx="685800" cy="33832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Slope</a:t>
            </a:r>
            <a:endParaRPr lang="en-US" sz="1200" dirty="0"/>
          </a:p>
        </p:txBody>
      </p:sp>
      <p:sp>
        <p:nvSpPr>
          <p:cNvPr id="10" name="Shape 7"/>
          <p:cNvSpPr/>
          <p:nvPr/>
        </p:nvSpPr>
        <p:spPr>
          <a:xfrm>
            <a:off x="7178040" y="1298448"/>
            <a:ext cx="685800" cy="411480"/>
          </a:xfrm>
          <a:prstGeom prst="rect">
            <a:avLst/>
          </a:prstGeom>
          <a:solidFill>
            <a:srgbClr val="2E7D32"/>
          </a:solidFill>
          <a:ln w="12700">
            <a:solidFill>
              <a:srgbClr val="CCCCCC"/>
            </a:solidFill>
            <a:prstDash val="solid"/>
          </a:ln>
        </p:spPr>
      </p:sp>
      <p:sp>
        <p:nvSpPr>
          <p:cNvPr id="11" name="Text 8"/>
          <p:cNvSpPr/>
          <p:nvPr/>
        </p:nvSpPr>
        <p:spPr>
          <a:xfrm>
            <a:off x="7223760" y="1335024"/>
            <a:ext cx="594360" cy="33832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R²</a:t>
            </a:r>
            <a:endParaRPr lang="en-US" sz="1200" dirty="0"/>
          </a:p>
        </p:txBody>
      </p:sp>
      <p:sp>
        <p:nvSpPr>
          <p:cNvPr id="12" name="Shape 9"/>
          <p:cNvSpPr/>
          <p:nvPr/>
        </p:nvSpPr>
        <p:spPr>
          <a:xfrm>
            <a:off x="7863840" y="1298448"/>
            <a:ext cx="868680" cy="411480"/>
          </a:xfrm>
          <a:prstGeom prst="rect">
            <a:avLst/>
          </a:prstGeom>
          <a:solidFill>
            <a:srgbClr val="2E7D32"/>
          </a:solidFill>
          <a:ln w="12700">
            <a:solidFill>
              <a:srgbClr val="CCCCCC"/>
            </a:solidFill>
            <a:prstDash val="solid"/>
          </a:ln>
        </p:spPr>
      </p:sp>
      <p:sp>
        <p:nvSpPr>
          <p:cNvPr id="13" name="Text 10"/>
          <p:cNvSpPr/>
          <p:nvPr/>
        </p:nvSpPr>
        <p:spPr>
          <a:xfrm>
            <a:off x="7909560" y="1335024"/>
            <a:ext cx="777240" cy="33832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p-value</a:t>
            </a:r>
            <a:endParaRPr lang="en-US" sz="1200" dirty="0"/>
          </a:p>
        </p:txBody>
      </p:sp>
      <p:sp>
        <p:nvSpPr>
          <p:cNvPr id="14" name="Shape 11"/>
          <p:cNvSpPr/>
          <p:nvPr/>
        </p:nvSpPr>
        <p:spPr>
          <a:xfrm>
            <a:off x="5440680" y="1709928"/>
            <a:ext cx="960120" cy="411480"/>
          </a:xfrm>
          <a:prstGeom prst="rect">
            <a:avLst/>
          </a:prstGeom>
          <a:solidFill>
            <a:srgbClr val="FFFFFF"/>
          </a:solidFill>
          <a:ln w="12700">
            <a:solidFill>
              <a:srgbClr val="CCCCCC"/>
            </a:solidFill>
            <a:prstDash val="solid"/>
          </a:ln>
        </p:spPr>
      </p:sp>
      <p:sp>
        <p:nvSpPr>
          <p:cNvPr id="15" name="Text 12"/>
          <p:cNvSpPr/>
          <p:nvPr/>
        </p:nvSpPr>
        <p:spPr>
          <a:xfrm>
            <a:off x="5486400" y="1746504"/>
            <a:ext cx="868680" cy="338328"/>
          </a:xfrm>
          <a:prstGeom prst="rect">
            <a:avLst/>
          </a:prstGeom>
          <a:noFill/>
          <a:ln/>
        </p:spPr>
        <p:txBody>
          <a:bodyPr wrap="square" lIns="0" tIns="0" rIns="0" bIns="0" rtlCol="0" anchor="ctr"/>
          <a:lstStyle/>
          <a:p>
            <a:pPr marL="0" indent="0" algn="ctr">
              <a:buNone/>
            </a:pPr>
            <a:r>
              <a:rPr lang="en-US" sz="1200" dirty="0">
                <a:solidFill>
                  <a:srgbClr val="1A1A1A"/>
                </a:solidFill>
                <a:latin typeface="Calibri" pitchFamily="34" charset="0"/>
                <a:ea typeface="Calibri" pitchFamily="34" charset="-122"/>
                <a:cs typeface="Calibri" pitchFamily="34" charset="-120"/>
              </a:rPr>
              <a:t>Paper</a:t>
            </a:r>
            <a:endParaRPr lang="en-US" sz="1200" dirty="0"/>
          </a:p>
        </p:txBody>
      </p:sp>
      <p:sp>
        <p:nvSpPr>
          <p:cNvPr id="16" name="Shape 13"/>
          <p:cNvSpPr/>
          <p:nvPr/>
        </p:nvSpPr>
        <p:spPr>
          <a:xfrm>
            <a:off x="6400800" y="1709928"/>
            <a:ext cx="777240" cy="411480"/>
          </a:xfrm>
          <a:prstGeom prst="rect">
            <a:avLst/>
          </a:prstGeom>
          <a:solidFill>
            <a:srgbClr val="FFFFFF"/>
          </a:solidFill>
          <a:ln w="12700">
            <a:solidFill>
              <a:srgbClr val="CCCCCC"/>
            </a:solidFill>
            <a:prstDash val="solid"/>
          </a:ln>
        </p:spPr>
      </p:sp>
      <p:sp>
        <p:nvSpPr>
          <p:cNvPr id="17" name="Text 14"/>
          <p:cNvSpPr/>
          <p:nvPr/>
        </p:nvSpPr>
        <p:spPr>
          <a:xfrm>
            <a:off x="6446520" y="1746504"/>
            <a:ext cx="685800" cy="338328"/>
          </a:xfrm>
          <a:prstGeom prst="rect">
            <a:avLst/>
          </a:prstGeom>
          <a:noFill/>
          <a:ln/>
        </p:spPr>
        <p:txBody>
          <a:bodyPr wrap="square" lIns="0" tIns="0" rIns="0" bIns="0" rtlCol="0" anchor="ctr"/>
          <a:lstStyle/>
          <a:p>
            <a:pPr marL="0" indent="0" algn="ctr">
              <a:buNone/>
            </a:pPr>
            <a:r>
              <a:rPr lang="en-US" sz="1200" dirty="0">
                <a:solidFill>
                  <a:srgbClr val="1A1A1A"/>
                </a:solidFill>
                <a:latin typeface="Calibri" pitchFamily="34" charset="0"/>
                <a:ea typeface="Calibri" pitchFamily="34" charset="-122"/>
                <a:cs typeface="Calibri" pitchFamily="34" charset="-120"/>
              </a:rPr>
              <a:t>+1.02</a:t>
            </a:r>
            <a:endParaRPr lang="en-US" sz="1200" dirty="0"/>
          </a:p>
        </p:txBody>
      </p:sp>
      <p:sp>
        <p:nvSpPr>
          <p:cNvPr id="18" name="Shape 15"/>
          <p:cNvSpPr/>
          <p:nvPr/>
        </p:nvSpPr>
        <p:spPr>
          <a:xfrm>
            <a:off x="7178040" y="1709928"/>
            <a:ext cx="685800" cy="411480"/>
          </a:xfrm>
          <a:prstGeom prst="rect">
            <a:avLst/>
          </a:prstGeom>
          <a:solidFill>
            <a:srgbClr val="FFFFFF"/>
          </a:solidFill>
          <a:ln w="12700">
            <a:solidFill>
              <a:srgbClr val="CCCCCC"/>
            </a:solidFill>
            <a:prstDash val="solid"/>
          </a:ln>
        </p:spPr>
      </p:sp>
      <p:sp>
        <p:nvSpPr>
          <p:cNvPr id="19" name="Text 16"/>
          <p:cNvSpPr/>
          <p:nvPr/>
        </p:nvSpPr>
        <p:spPr>
          <a:xfrm>
            <a:off x="7223760" y="1746504"/>
            <a:ext cx="594360" cy="338328"/>
          </a:xfrm>
          <a:prstGeom prst="rect">
            <a:avLst/>
          </a:prstGeom>
          <a:noFill/>
          <a:ln/>
        </p:spPr>
        <p:txBody>
          <a:bodyPr wrap="square" lIns="0" tIns="0" rIns="0" bIns="0" rtlCol="0" anchor="ctr"/>
          <a:lstStyle/>
          <a:p>
            <a:pPr marL="0" indent="0" algn="ctr">
              <a:buNone/>
            </a:pPr>
            <a:r>
              <a:rPr lang="en-US" sz="1200" dirty="0">
                <a:solidFill>
                  <a:srgbClr val="1A1A1A"/>
                </a:solidFill>
                <a:latin typeface="Calibri" pitchFamily="34" charset="0"/>
                <a:ea typeface="Calibri" pitchFamily="34" charset="-122"/>
                <a:cs typeface="Calibri" pitchFamily="34" charset="-120"/>
              </a:rPr>
              <a:t>0.97</a:t>
            </a:r>
            <a:endParaRPr lang="en-US" sz="1200" dirty="0"/>
          </a:p>
        </p:txBody>
      </p:sp>
      <p:sp>
        <p:nvSpPr>
          <p:cNvPr id="20" name="Shape 17"/>
          <p:cNvSpPr/>
          <p:nvPr/>
        </p:nvSpPr>
        <p:spPr>
          <a:xfrm>
            <a:off x="7863840" y="1709928"/>
            <a:ext cx="868680" cy="411480"/>
          </a:xfrm>
          <a:prstGeom prst="rect">
            <a:avLst/>
          </a:prstGeom>
          <a:solidFill>
            <a:srgbClr val="FFFFFF"/>
          </a:solidFill>
          <a:ln w="12700">
            <a:solidFill>
              <a:srgbClr val="CCCCCC"/>
            </a:solidFill>
            <a:prstDash val="solid"/>
          </a:ln>
        </p:spPr>
      </p:sp>
      <p:sp>
        <p:nvSpPr>
          <p:cNvPr id="21" name="Text 18"/>
          <p:cNvSpPr/>
          <p:nvPr/>
        </p:nvSpPr>
        <p:spPr>
          <a:xfrm>
            <a:off x="7909560" y="1746504"/>
            <a:ext cx="777240" cy="338328"/>
          </a:xfrm>
          <a:prstGeom prst="rect">
            <a:avLst/>
          </a:prstGeom>
          <a:noFill/>
          <a:ln/>
        </p:spPr>
        <p:txBody>
          <a:bodyPr wrap="square" lIns="0" tIns="0" rIns="0" bIns="0" rtlCol="0" anchor="ctr"/>
          <a:lstStyle/>
          <a:p>
            <a:pPr marL="0" indent="0" algn="ctr">
              <a:buNone/>
            </a:pPr>
            <a:r>
              <a:rPr lang="en-US" sz="1200" dirty="0">
                <a:solidFill>
                  <a:srgbClr val="1A1A1A"/>
                </a:solidFill>
                <a:latin typeface="Calibri" pitchFamily="34" charset="0"/>
                <a:ea typeface="Calibri" pitchFamily="34" charset="-122"/>
                <a:cs typeface="Calibri" pitchFamily="34" charset="-120"/>
              </a:rPr>
              <a:t>&lt;0.001</a:t>
            </a:r>
            <a:endParaRPr lang="en-US" sz="1200" dirty="0"/>
          </a:p>
        </p:txBody>
      </p:sp>
      <p:sp>
        <p:nvSpPr>
          <p:cNvPr id="22" name="Shape 19"/>
          <p:cNvSpPr/>
          <p:nvPr/>
        </p:nvSpPr>
        <p:spPr>
          <a:xfrm>
            <a:off x="5440680" y="2121408"/>
            <a:ext cx="960120" cy="411480"/>
          </a:xfrm>
          <a:prstGeom prst="rect">
            <a:avLst/>
          </a:prstGeom>
          <a:solidFill>
            <a:srgbClr val="F5F5F5"/>
          </a:solidFill>
          <a:ln w="12700">
            <a:solidFill>
              <a:srgbClr val="CCCCCC"/>
            </a:solidFill>
            <a:prstDash val="solid"/>
          </a:ln>
        </p:spPr>
      </p:sp>
      <p:sp>
        <p:nvSpPr>
          <p:cNvPr id="23" name="Text 20"/>
          <p:cNvSpPr/>
          <p:nvPr/>
        </p:nvSpPr>
        <p:spPr>
          <a:xfrm>
            <a:off x="5486400" y="2157984"/>
            <a:ext cx="868680" cy="338328"/>
          </a:xfrm>
          <a:prstGeom prst="rect">
            <a:avLst/>
          </a:prstGeom>
          <a:noFill/>
          <a:ln/>
        </p:spPr>
        <p:txBody>
          <a:bodyPr wrap="square" lIns="0" tIns="0" rIns="0" bIns="0" rtlCol="0" anchor="ctr"/>
          <a:lstStyle/>
          <a:p>
            <a:pPr marL="0" indent="0" algn="ctr">
              <a:buNone/>
            </a:pPr>
            <a:r>
              <a:rPr lang="en-US" sz="1200" dirty="0">
                <a:solidFill>
                  <a:srgbClr val="1A1A1A"/>
                </a:solidFill>
                <a:latin typeface="Calibri" pitchFamily="34" charset="0"/>
                <a:ea typeface="Calibri" pitchFamily="34" charset="-122"/>
                <a:cs typeface="Calibri" pitchFamily="34" charset="-120"/>
              </a:rPr>
              <a:t>Metal</a:t>
            </a:r>
            <a:endParaRPr lang="en-US" sz="1200" dirty="0"/>
          </a:p>
        </p:txBody>
      </p:sp>
      <p:sp>
        <p:nvSpPr>
          <p:cNvPr id="24" name="Shape 21"/>
          <p:cNvSpPr/>
          <p:nvPr/>
        </p:nvSpPr>
        <p:spPr>
          <a:xfrm>
            <a:off x="6400800" y="2121408"/>
            <a:ext cx="777240" cy="411480"/>
          </a:xfrm>
          <a:prstGeom prst="rect">
            <a:avLst/>
          </a:prstGeom>
          <a:solidFill>
            <a:srgbClr val="F5F5F5"/>
          </a:solidFill>
          <a:ln w="12700">
            <a:solidFill>
              <a:srgbClr val="CCCCCC"/>
            </a:solidFill>
            <a:prstDash val="solid"/>
          </a:ln>
        </p:spPr>
      </p:sp>
      <p:sp>
        <p:nvSpPr>
          <p:cNvPr id="25" name="Text 22"/>
          <p:cNvSpPr/>
          <p:nvPr/>
        </p:nvSpPr>
        <p:spPr>
          <a:xfrm>
            <a:off x="6446520" y="2157984"/>
            <a:ext cx="685800" cy="338328"/>
          </a:xfrm>
          <a:prstGeom prst="rect">
            <a:avLst/>
          </a:prstGeom>
          <a:noFill/>
          <a:ln/>
        </p:spPr>
        <p:txBody>
          <a:bodyPr wrap="square" lIns="0" tIns="0" rIns="0" bIns="0" rtlCol="0" anchor="ctr"/>
          <a:lstStyle/>
          <a:p>
            <a:pPr marL="0" indent="0" algn="ctr">
              <a:buNone/>
            </a:pPr>
            <a:r>
              <a:rPr lang="en-US" sz="1200" dirty="0">
                <a:solidFill>
                  <a:srgbClr val="1A1A1A"/>
                </a:solidFill>
                <a:latin typeface="Calibri" pitchFamily="34" charset="0"/>
                <a:ea typeface="Calibri" pitchFamily="34" charset="-122"/>
                <a:cs typeface="Calibri" pitchFamily="34" charset="-120"/>
              </a:rPr>
              <a:t>+0.58</a:t>
            </a:r>
            <a:endParaRPr lang="en-US" sz="1200" dirty="0"/>
          </a:p>
        </p:txBody>
      </p:sp>
      <p:sp>
        <p:nvSpPr>
          <p:cNvPr id="26" name="Shape 23"/>
          <p:cNvSpPr/>
          <p:nvPr/>
        </p:nvSpPr>
        <p:spPr>
          <a:xfrm>
            <a:off x="7178040" y="2121408"/>
            <a:ext cx="685800" cy="411480"/>
          </a:xfrm>
          <a:prstGeom prst="rect">
            <a:avLst/>
          </a:prstGeom>
          <a:solidFill>
            <a:srgbClr val="F5F5F5"/>
          </a:solidFill>
          <a:ln w="12700">
            <a:solidFill>
              <a:srgbClr val="CCCCCC"/>
            </a:solidFill>
            <a:prstDash val="solid"/>
          </a:ln>
        </p:spPr>
      </p:sp>
      <p:sp>
        <p:nvSpPr>
          <p:cNvPr id="27" name="Text 24"/>
          <p:cNvSpPr/>
          <p:nvPr/>
        </p:nvSpPr>
        <p:spPr>
          <a:xfrm>
            <a:off x="7223760" y="2157984"/>
            <a:ext cx="594360" cy="338328"/>
          </a:xfrm>
          <a:prstGeom prst="rect">
            <a:avLst/>
          </a:prstGeom>
          <a:noFill/>
          <a:ln/>
        </p:spPr>
        <p:txBody>
          <a:bodyPr wrap="square" lIns="0" tIns="0" rIns="0" bIns="0" rtlCol="0" anchor="ctr"/>
          <a:lstStyle/>
          <a:p>
            <a:pPr marL="0" indent="0" algn="ctr">
              <a:buNone/>
            </a:pPr>
            <a:r>
              <a:rPr lang="en-US" sz="1200" dirty="0">
                <a:solidFill>
                  <a:srgbClr val="1A1A1A"/>
                </a:solidFill>
                <a:latin typeface="Calibri" pitchFamily="34" charset="0"/>
                <a:ea typeface="Calibri" pitchFamily="34" charset="-122"/>
                <a:cs typeface="Calibri" pitchFamily="34" charset="-120"/>
              </a:rPr>
              <a:t>0.91</a:t>
            </a:r>
            <a:endParaRPr lang="en-US" sz="1200" dirty="0"/>
          </a:p>
        </p:txBody>
      </p:sp>
      <p:sp>
        <p:nvSpPr>
          <p:cNvPr id="28" name="Shape 25"/>
          <p:cNvSpPr/>
          <p:nvPr/>
        </p:nvSpPr>
        <p:spPr>
          <a:xfrm>
            <a:off x="7863840" y="2121408"/>
            <a:ext cx="868680" cy="411480"/>
          </a:xfrm>
          <a:prstGeom prst="rect">
            <a:avLst/>
          </a:prstGeom>
          <a:solidFill>
            <a:srgbClr val="F5F5F5"/>
          </a:solidFill>
          <a:ln w="12700">
            <a:solidFill>
              <a:srgbClr val="CCCCCC"/>
            </a:solidFill>
            <a:prstDash val="solid"/>
          </a:ln>
        </p:spPr>
      </p:sp>
      <p:sp>
        <p:nvSpPr>
          <p:cNvPr id="29" name="Text 26"/>
          <p:cNvSpPr/>
          <p:nvPr/>
        </p:nvSpPr>
        <p:spPr>
          <a:xfrm>
            <a:off x="7909560" y="2157984"/>
            <a:ext cx="777240" cy="338328"/>
          </a:xfrm>
          <a:prstGeom prst="rect">
            <a:avLst/>
          </a:prstGeom>
          <a:noFill/>
          <a:ln/>
        </p:spPr>
        <p:txBody>
          <a:bodyPr wrap="square" lIns="0" tIns="0" rIns="0" bIns="0" rtlCol="0" anchor="ctr"/>
          <a:lstStyle/>
          <a:p>
            <a:pPr marL="0" indent="0" algn="ctr">
              <a:buNone/>
            </a:pPr>
            <a:r>
              <a:rPr lang="en-US" sz="1200" dirty="0">
                <a:solidFill>
                  <a:srgbClr val="1A1A1A"/>
                </a:solidFill>
                <a:latin typeface="Calibri" pitchFamily="34" charset="0"/>
                <a:ea typeface="Calibri" pitchFamily="34" charset="-122"/>
                <a:cs typeface="Calibri" pitchFamily="34" charset="-120"/>
              </a:rPr>
              <a:t>&lt;0.001</a:t>
            </a:r>
            <a:endParaRPr lang="en-US" sz="1200" dirty="0"/>
          </a:p>
        </p:txBody>
      </p:sp>
      <p:sp>
        <p:nvSpPr>
          <p:cNvPr id="30" name="Shape 27"/>
          <p:cNvSpPr/>
          <p:nvPr/>
        </p:nvSpPr>
        <p:spPr>
          <a:xfrm>
            <a:off x="5440680" y="2532888"/>
            <a:ext cx="960120" cy="411480"/>
          </a:xfrm>
          <a:prstGeom prst="rect">
            <a:avLst/>
          </a:prstGeom>
          <a:solidFill>
            <a:srgbClr val="FFFFFF"/>
          </a:solidFill>
          <a:ln w="12700">
            <a:solidFill>
              <a:srgbClr val="CCCCCC"/>
            </a:solidFill>
            <a:prstDash val="solid"/>
          </a:ln>
        </p:spPr>
      </p:sp>
      <p:sp>
        <p:nvSpPr>
          <p:cNvPr id="31" name="Text 28"/>
          <p:cNvSpPr/>
          <p:nvPr/>
        </p:nvSpPr>
        <p:spPr>
          <a:xfrm>
            <a:off x="5486400" y="2569464"/>
            <a:ext cx="868680" cy="338328"/>
          </a:xfrm>
          <a:prstGeom prst="rect">
            <a:avLst/>
          </a:prstGeom>
          <a:noFill/>
          <a:ln/>
        </p:spPr>
        <p:txBody>
          <a:bodyPr wrap="square" lIns="0" tIns="0" rIns="0" bIns="0" rtlCol="0" anchor="ctr"/>
          <a:lstStyle/>
          <a:p>
            <a:pPr marL="0" indent="0" algn="ctr">
              <a:buNone/>
            </a:pPr>
            <a:r>
              <a:rPr lang="en-US" sz="1200" dirty="0">
                <a:solidFill>
                  <a:srgbClr val="1A1A1A"/>
                </a:solidFill>
                <a:latin typeface="Calibri" pitchFamily="34" charset="0"/>
                <a:ea typeface="Calibri" pitchFamily="34" charset="-122"/>
                <a:cs typeface="Calibri" pitchFamily="34" charset="-120"/>
              </a:rPr>
              <a:t>Glass</a:t>
            </a:r>
            <a:endParaRPr lang="en-US" sz="1200" dirty="0"/>
          </a:p>
        </p:txBody>
      </p:sp>
      <p:sp>
        <p:nvSpPr>
          <p:cNvPr id="32" name="Shape 29"/>
          <p:cNvSpPr/>
          <p:nvPr/>
        </p:nvSpPr>
        <p:spPr>
          <a:xfrm>
            <a:off x="6400800" y="2532888"/>
            <a:ext cx="777240" cy="411480"/>
          </a:xfrm>
          <a:prstGeom prst="rect">
            <a:avLst/>
          </a:prstGeom>
          <a:solidFill>
            <a:srgbClr val="FFFFFF"/>
          </a:solidFill>
          <a:ln w="12700">
            <a:solidFill>
              <a:srgbClr val="CCCCCC"/>
            </a:solidFill>
            <a:prstDash val="solid"/>
          </a:ln>
        </p:spPr>
      </p:sp>
      <p:sp>
        <p:nvSpPr>
          <p:cNvPr id="33" name="Text 30"/>
          <p:cNvSpPr/>
          <p:nvPr/>
        </p:nvSpPr>
        <p:spPr>
          <a:xfrm>
            <a:off x="6446520" y="2569464"/>
            <a:ext cx="685800" cy="338328"/>
          </a:xfrm>
          <a:prstGeom prst="rect">
            <a:avLst/>
          </a:prstGeom>
          <a:noFill/>
          <a:ln/>
        </p:spPr>
        <p:txBody>
          <a:bodyPr wrap="square" lIns="0" tIns="0" rIns="0" bIns="0" rtlCol="0" anchor="ctr"/>
          <a:lstStyle/>
          <a:p>
            <a:pPr marL="0" indent="0" algn="ctr">
              <a:buNone/>
            </a:pPr>
            <a:r>
              <a:rPr lang="en-US" sz="1200" dirty="0">
                <a:solidFill>
                  <a:srgbClr val="1A1A1A"/>
                </a:solidFill>
                <a:latin typeface="Calibri" pitchFamily="34" charset="0"/>
                <a:ea typeface="Calibri" pitchFamily="34" charset="-122"/>
                <a:cs typeface="Calibri" pitchFamily="34" charset="-120"/>
              </a:rPr>
              <a:t>+0.44</a:t>
            </a:r>
            <a:endParaRPr lang="en-US" sz="1200" dirty="0"/>
          </a:p>
        </p:txBody>
      </p:sp>
      <p:sp>
        <p:nvSpPr>
          <p:cNvPr id="34" name="Shape 31"/>
          <p:cNvSpPr/>
          <p:nvPr/>
        </p:nvSpPr>
        <p:spPr>
          <a:xfrm>
            <a:off x="7178040" y="2532888"/>
            <a:ext cx="685800" cy="411480"/>
          </a:xfrm>
          <a:prstGeom prst="rect">
            <a:avLst/>
          </a:prstGeom>
          <a:solidFill>
            <a:srgbClr val="FFFFFF"/>
          </a:solidFill>
          <a:ln w="12700">
            <a:solidFill>
              <a:srgbClr val="CCCCCC"/>
            </a:solidFill>
            <a:prstDash val="solid"/>
          </a:ln>
        </p:spPr>
      </p:sp>
      <p:sp>
        <p:nvSpPr>
          <p:cNvPr id="35" name="Text 32"/>
          <p:cNvSpPr/>
          <p:nvPr/>
        </p:nvSpPr>
        <p:spPr>
          <a:xfrm>
            <a:off x="7223760" y="2569464"/>
            <a:ext cx="594360" cy="338328"/>
          </a:xfrm>
          <a:prstGeom prst="rect">
            <a:avLst/>
          </a:prstGeom>
          <a:noFill/>
          <a:ln/>
        </p:spPr>
        <p:txBody>
          <a:bodyPr wrap="square" lIns="0" tIns="0" rIns="0" bIns="0" rtlCol="0" anchor="ctr"/>
          <a:lstStyle/>
          <a:p>
            <a:pPr marL="0" indent="0" algn="ctr">
              <a:buNone/>
            </a:pPr>
            <a:r>
              <a:rPr lang="en-US" sz="1200" dirty="0">
                <a:solidFill>
                  <a:srgbClr val="1A1A1A"/>
                </a:solidFill>
                <a:latin typeface="Calibri" pitchFamily="34" charset="0"/>
                <a:ea typeface="Calibri" pitchFamily="34" charset="-122"/>
                <a:cs typeface="Calibri" pitchFamily="34" charset="-120"/>
              </a:rPr>
              <a:t>0.72</a:t>
            </a:r>
            <a:endParaRPr lang="en-US" sz="1200" dirty="0"/>
          </a:p>
        </p:txBody>
      </p:sp>
      <p:sp>
        <p:nvSpPr>
          <p:cNvPr id="36" name="Shape 33"/>
          <p:cNvSpPr/>
          <p:nvPr/>
        </p:nvSpPr>
        <p:spPr>
          <a:xfrm>
            <a:off x="7863840" y="2532888"/>
            <a:ext cx="868680" cy="411480"/>
          </a:xfrm>
          <a:prstGeom prst="rect">
            <a:avLst/>
          </a:prstGeom>
          <a:solidFill>
            <a:srgbClr val="FFFFFF"/>
          </a:solidFill>
          <a:ln w="12700">
            <a:solidFill>
              <a:srgbClr val="CCCCCC"/>
            </a:solidFill>
            <a:prstDash val="solid"/>
          </a:ln>
        </p:spPr>
      </p:sp>
      <p:sp>
        <p:nvSpPr>
          <p:cNvPr id="37" name="Text 34"/>
          <p:cNvSpPr/>
          <p:nvPr/>
        </p:nvSpPr>
        <p:spPr>
          <a:xfrm>
            <a:off x="7909560" y="2569464"/>
            <a:ext cx="777240" cy="338328"/>
          </a:xfrm>
          <a:prstGeom prst="rect">
            <a:avLst/>
          </a:prstGeom>
          <a:noFill/>
          <a:ln/>
        </p:spPr>
        <p:txBody>
          <a:bodyPr wrap="square" lIns="0" tIns="0" rIns="0" bIns="0" rtlCol="0" anchor="ctr"/>
          <a:lstStyle/>
          <a:p>
            <a:pPr marL="0" indent="0" algn="ctr">
              <a:buNone/>
            </a:pPr>
            <a:r>
              <a:rPr lang="en-US" sz="1200" dirty="0">
                <a:solidFill>
                  <a:srgbClr val="1A1A1A"/>
                </a:solidFill>
                <a:latin typeface="Calibri" pitchFamily="34" charset="0"/>
                <a:ea typeface="Calibri" pitchFamily="34" charset="-122"/>
                <a:cs typeface="Calibri" pitchFamily="34" charset="-120"/>
              </a:rPr>
              <a:t>0.004</a:t>
            </a:r>
            <a:endParaRPr lang="en-US" sz="1200" dirty="0"/>
          </a:p>
        </p:txBody>
      </p:sp>
      <p:sp>
        <p:nvSpPr>
          <p:cNvPr id="38" name="Shape 35"/>
          <p:cNvSpPr/>
          <p:nvPr/>
        </p:nvSpPr>
        <p:spPr>
          <a:xfrm>
            <a:off x="5440680" y="2944368"/>
            <a:ext cx="960120" cy="411480"/>
          </a:xfrm>
          <a:prstGeom prst="rect">
            <a:avLst/>
          </a:prstGeom>
          <a:solidFill>
            <a:srgbClr val="F5F5F5"/>
          </a:solidFill>
          <a:ln w="12700">
            <a:solidFill>
              <a:srgbClr val="CCCCCC"/>
            </a:solidFill>
            <a:prstDash val="solid"/>
          </a:ln>
        </p:spPr>
      </p:sp>
      <p:sp>
        <p:nvSpPr>
          <p:cNvPr id="39" name="Text 36"/>
          <p:cNvSpPr/>
          <p:nvPr/>
        </p:nvSpPr>
        <p:spPr>
          <a:xfrm>
            <a:off x="5486400" y="2980944"/>
            <a:ext cx="868680" cy="338328"/>
          </a:xfrm>
          <a:prstGeom prst="rect">
            <a:avLst/>
          </a:prstGeom>
          <a:noFill/>
          <a:ln/>
        </p:spPr>
        <p:txBody>
          <a:bodyPr wrap="square" lIns="0" tIns="0" rIns="0" bIns="0" rtlCol="0" anchor="ctr"/>
          <a:lstStyle/>
          <a:p>
            <a:pPr marL="0" indent="0" algn="ctr">
              <a:buNone/>
            </a:pPr>
            <a:r>
              <a:rPr lang="en-US" sz="1200" dirty="0">
                <a:solidFill>
                  <a:srgbClr val="1A1A1A"/>
                </a:solidFill>
                <a:latin typeface="Calibri" pitchFamily="34" charset="0"/>
                <a:ea typeface="Calibri" pitchFamily="34" charset="-122"/>
                <a:cs typeface="Calibri" pitchFamily="34" charset="-120"/>
              </a:rPr>
              <a:t>Plastic</a:t>
            </a:r>
            <a:endParaRPr lang="en-US" sz="1200" dirty="0"/>
          </a:p>
        </p:txBody>
      </p:sp>
      <p:sp>
        <p:nvSpPr>
          <p:cNvPr id="40" name="Shape 37"/>
          <p:cNvSpPr/>
          <p:nvPr/>
        </p:nvSpPr>
        <p:spPr>
          <a:xfrm>
            <a:off x="6400800" y="2944368"/>
            <a:ext cx="777240" cy="411480"/>
          </a:xfrm>
          <a:prstGeom prst="rect">
            <a:avLst/>
          </a:prstGeom>
          <a:solidFill>
            <a:srgbClr val="F5F5F5"/>
          </a:solidFill>
          <a:ln w="12700">
            <a:solidFill>
              <a:srgbClr val="CCCCCC"/>
            </a:solidFill>
            <a:prstDash val="solid"/>
          </a:ln>
        </p:spPr>
      </p:sp>
      <p:sp>
        <p:nvSpPr>
          <p:cNvPr id="41" name="Text 38"/>
          <p:cNvSpPr/>
          <p:nvPr/>
        </p:nvSpPr>
        <p:spPr>
          <a:xfrm>
            <a:off x="6446520" y="2980944"/>
            <a:ext cx="685800" cy="338328"/>
          </a:xfrm>
          <a:prstGeom prst="rect">
            <a:avLst/>
          </a:prstGeom>
          <a:noFill/>
          <a:ln/>
        </p:spPr>
        <p:txBody>
          <a:bodyPr wrap="square" lIns="0" tIns="0" rIns="0" bIns="0" rtlCol="0" anchor="ctr"/>
          <a:lstStyle/>
          <a:p>
            <a:pPr marL="0" indent="0" algn="ctr">
              <a:buNone/>
            </a:pPr>
            <a:r>
              <a:rPr lang="en-US" sz="1200" dirty="0">
                <a:solidFill>
                  <a:srgbClr val="1A1A1A"/>
                </a:solidFill>
                <a:latin typeface="Calibri" pitchFamily="34" charset="0"/>
                <a:ea typeface="Calibri" pitchFamily="34" charset="-122"/>
                <a:cs typeface="Calibri" pitchFamily="34" charset="-120"/>
              </a:rPr>
              <a:t>+0.14</a:t>
            </a:r>
            <a:endParaRPr lang="en-US" sz="1200" dirty="0"/>
          </a:p>
        </p:txBody>
      </p:sp>
      <p:sp>
        <p:nvSpPr>
          <p:cNvPr id="42" name="Shape 39"/>
          <p:cNvSpPr/>
          <p:nvPr/>
        </p:nvSpPr>
        <p:spPr>
          <a:xfrm>
            <a:off x="7178040" y="2944368"/>
            <a:ext cx="685800" cy="411480"/>
          </a:xfrm>
          <a:prstGeom prst="rect">
            <a:avLst/>
          </a:prstGeom>
          <a:solidFill>
            <a:srgbClr val="F5F5F5"/>
          </a:solidFill>
          <a:ln w="12700">
            <a:solidFill>
              <a:srgbClr val="CCCCCC"/>
            </a:solidFill>
            <a:prstDash val="solid"/>
          </a:ln>
        </p:spPr>
      </p:sp>
      <p:sp>
        <p:nvSpPr>
          <p:cNvPr id="43" name="Text 40"/>
          <p:cNvSpPr/>
          <p:nvPr/>
        </p:nvSpPr>
        <p:spPr>
          <a:xfrm>
            <a:off x="7223760" y="2980944"/>
            <a:ext cx="594360" cy="338328"/>
          </a:xfrm>
          <a:prstGeom prst="rect">
            <a:avLst/>
          </a:prstGeom>
          <a:noFill/>
          <a:ln/>
        </p:spPr>
        <p:txBody>
          <a:bodyPr wrap="square" lIns="0" tIns="0" rIns="0" bIns="0" rtlCol="0" anchor="ctr"/>
          <a:lstStyle/>
          <a:p>
            <a:pPr marL="0" indent="0" algn="ctr">
              <a:buNone/>
            </a:pPr>
            <a:r>
              <a:rPr lang="en-US" sz="1200" dirty="0">
                <a:solidFill>
                  <a:srgbClr val="1A1A1A"/>
                </a:solidFill>
                <a:latin typeface="Calibri" pitchFamily="34" charset="0"/>
                <a:ea typeface="Calibri" pitchFamily="34" charset="-122"/>
                <a:cs typeface="Calibri" pitchFamily="34" charset="-120"/>
              </a:rPr>
              <a:t>0.89</a:t>
            </a:r>
            <a:endParaRPr lang="en-US" sz="1200" dirty="0"/>
          </a:p>
        </p:txBody>
      </p:sp>
      <p:sp>
        <p:nvSpPr>
          <p:cNvPr id="44" name="Shape 41"/>
          <p:cNvSpPr/>
          <p:nvPr/>
        </p:nvSpPr>
        <p:spPr>
          <a:xfrm>
            <a:off x="7863840" y="2944368"/>
            <a:ext cx="868680" cy="411480"/>
          </a:xfrm>
          <a:prstGeom prst="rect">
            <a:avLst/>
          </a:prstGeom>
          <a:solidFill>
            <a:srgbClr val="F5F5F5"/>
          </a:solidFill>
          <a:ln w="12700">
            <a:solidFill>
              <a:srgbClr val="CCCCCC"/>
            </a:solidFill>
            <a:prstDash val="solid"/>
          </a:ln>
        </p:spPr>
      </p:sp>
      <p:sp>
        <p:nvSpPr>
          <p:cNvPr id="45" name="Text 42"/>
          <p:cNvSpPr/>
          <p:nvPr/>
        </p:nvSpPr>
        <p:spPr>
          <a:xfrm>
            <a:off x="7909560" y="2980944"/>
            <a:ext cx="777240" cy="338328"/>
          </a:xfrm>
          <a:prstGeom prst="rect">
            <a:avLst/>
          </a:prstGeom>
          <a:noFill/>
          <a:ln/>
        </p:spPr>
        <p:txBody>
          <a:bodyPr wrap="square" lIns="0" tIns="0" rIns="0" bIns="0" rtlCol="0" anchor="ctr"/>
          <a:lstStyle/>
          <a:p>
            <a:pPr marL="0" indent="0" algn="ctr">
              <a:buNone/>
            </a:pPr>
            <a:r>
              <a:rPr lang="en-US" sz="1200" dirty="0">
                <a:solidFill>
                  <a:srgbClr val="1A1A1A"/>
                </a:solidFill>
                <a:latin typeface="Calibri" pitchFamily="34" charset="0"/>
                <a:ea typeface="Calibri" pitchFamily="34" charset="-122"/>
                <a:cs typeface="Calibri" pitchFamily="34" charset="-120"/>
              </a:rPr>
              <a:t>&lt;0.001</a:t>
            </a:r>
            <a:endParaRPr lang="en-US" sz="1200" dirty="0"/>
          </a:p>
        </p:txBody>
      </p:sp>
      <p:pic>
        <p:nvPicPr>
          <p:cNvPr id="46" name="Image 1" descr="preencoded.png"/>
          <p:cNvPicPr>
            <a:picLocks noChangeAspect="1"/>
          </p:cNvPicPr>
          <p:nvPr/>
        </p:nvPicPr>
        <p:blipFill>
          <a:blip r:embed="rId4"/>
          <a:srcRect/>
          <a:stretch/>
        </p:blipFill>
        <p:spPr>
          <a:xfrm>
            <a:off x="5394960" y="3429000"/>
            <a:ext cx="3520440" cy="1508760"/>
          </a:xfrm>
          <a:prstGeom prst="rect">
            <a:avLst/>
          </a:prstGeom>
        </p:spPr>
      </p:pic>
      <p:sp>
        <p:nvSpPr>
          <p:cNvPr id="47" name="Text 43"/>
          <p:cNvSpPr/>
          <p:nvPr/>
        </p:nvSpPr>
        <p:spPr>
          <a:xfrm>
            <a:off x="228600" y="4041648"/>
            <a:ext cx="5029200" cy="347472"/>
          </a:xfrm>
          <a:prstGeom prst="rect">
            <a:avLst/>
          </a:prstGeom>
          <a:noFill/>
          <a:ln/>
        </p:spPr>
        <p:txBody>
          <a:bodyPr wrap="square" rtlCol="0" anchor="ctr"/>
          <a:lstStyle/>
          <a:p>
            <a:pPr marL="0" indent="0">
              <a:buNone/>
            </a:pPr>
            <a:r>
              <a:rPr lang="en-US" sz="1100" i="1" dirty="0">
                <a:solidFill>
                  <a:srgbClr val="546E7A"/>
                </a:solidFill>
                <a:latin typeface="Calibri" pitchFamily="34" charset="0"/>
                <a:ea typeface="Calibri" pitchFamily="34" charset="-122"/>
                <a:cs typeface="Calibri" pitchFamily="34" charset="-120"/>
              </a:rPr>
              <a:t>p &lt; 0.05 for all materials - trends are statistically significant</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9FBF9"/>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2E7D32"/>
          </a:solidFill>
          <a:ln w="12700">
            <a:solidFill>
              <a:srgbClr val="2E7D32"/>
            </a:solidFill>
            <a:prstDash val="solid"/>
          </a:ln>
        </p:spPr>
      </p:sp>
      <p:sp>
        <p:nvSpPr>
          <p:cNvPr id="3" name="Text 1"/>
          <p:cNvSpPr/>
          <p:nvPr/>
        </p:nvSpPr>
        <p:spPr>
          <a:xfrm>
            <a:off x="365760" y="91440"/>
            <a:ext cx="8229600" cy="59436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EDA - Regional Analysis</a:t>
            </a:r>
            <a:endParaRPr lang="en-US" sz="2800" dirty="0"/>
          </a:p>
        </p:txBody>
      </p:sp>
      <p:pic>
        <p:nvPicPr>
          <p:cNvPr id="4" name="Image 0" descr="preencoded.png"/>
          <p:cNvPicPr>
            <a:picLocks noChangeAspect="1"/>
          </p:cNvPicPr>
          <p:nvPr/>
        </p:nvPicPr>
        <p:blipFill>
          <a:blip r:embed="rId3"/>
          <a:srcRect/>
          <a:stretch/>
        </p:blipFill>
        <p:spPr>
          <a:xfrm>
            <a:off x="228600" y="868680"/>
            <a:ext cx="4663440" cy="2743200"/>
          </a:xfrm>
          <a:prstGeom prst="rect">
            <a:avLst/>
          </a:prstGeom>
        </p:spPr>
      </p:pic>
      <p:pic>
        <p:nvPicPr>
          <p:cNvPr id="5" name="Image 1" descr="preencoded.png"/>
          <p:cNvPicPr>
            <a:picLocks noChangeAspect="1"/>
          </p:cNvPicPr>
          <p:nvPr/>
        </p:nvPicPr>
        <p:blipFill>
          <a:blip r:embed="rId4"/>
          <a:srcRect/>
          <a:stretch/>
        </p:blipFill>
        <p:spPr>
          <a:xfrm>
            <a:off x="4937760" y="868680"/>
            <a:ext cx="3977640" cy="2560320"/>
          </a:xfrm>
          <a:prstGeom prst="rect">
            <a:avLst/>
          </a:prstGeom>
        </p:spPr>
      </p:pic>
      <p:sp>
        <p:nvSpPr>
          <p:cNvPr id="6" name="Shape 2"/>
          <p:cNvSpPr/>
          <p:nvPr/>
        </p:nvSpPr>
        <p:spPr>
          <a:xfrm>
            <a:off x="228600" y="3749040"/>
            <a:ext cx="8686800" cy="1143000"/>
          </a:xfrm>
          <a:prstGeom prst="rect">
            <a:avLst/>
          </a:prstGeom>
          <a:solidFill>
            <a:srgbClr val="E8F5E9"/>
          </a:solidFill>
          <a:ln w="12700">
            <a:solidFill>
              <a:srgbClr val="A5D6A7"/>
            </a:solidFill>
            <a:prstDash val="solid"/>
          </a:ln>
        </p:spPr>
      </p:sp>
      <p:sp>
        <p:nvSpPr>
          <p:cNvPr id="7" name="Shape 3"/>
          <p:cNvSpPr/>
          <p:nvPr/>
        </p:nvSpPr>
        <p:spPr>
          <a:xfrm>
            <a:off x="228600" y="3749040"/>
            <a:ext cx="109728" cy="1143000"/>
          </a:xfrm>
          <a:prstGeom prst="rect">
            <a:avLst/>
          </a:prstGeom>
          <a:solidFill>
            <a:srgbClr val="2E7D32"/>
          </a:solidFill>
          <a:ln w="12700">
            <a:solidFill>
              <a:srgbClr val="2E7D32"/>
            </a:solidFill>
            <a:prstDash val="solid"/>
          </a:ln>
        </p:spPr>
      </p:sp>
      <p:sp>
        <p:nvSpPr>
          <p:cNvPr id="8" name="Text 4"/>
          <p:cNvSpPr/>
          <p:nvPr/>
        </p:nvSpPr>
        <p:spPr>
          <a:xfrm>
            <a:off x="438912" y="3803904"/>
            <a:ext cx="2743200" cy="292608"/>
          </a:xfrm>
          <a:prstGeom prst="rect">
            <a:avLst/>
          </a:prstGeom>
          <a:noFill/>
          <a:ln/>
        </p:spPr>
        <p:txBody>
          <a:bodyPr wrap="square" rtlCol="0" anchor="ctr"/>
          <a:lstStyle/>
          <a:p>
            <a:pPr marL="0" indent="0">
              <a:buNone/>
            </a:pPr>
            <a:r>
              <a:rPr lang="en-US" sz="1200" b="1" dirty="0">
                <a:solidFill>
                  <a:srgbClr val="2E7D32"/>
                </a:solidFill>
                <a:latin typeface="Calibri" pitchFamily="34" charset="0"/>
                <a:ea typeface="Calibri" pitchFamily="34" charset="-122"/>
                <a:cs typeface="Calibri" pitchFamily="34" charset="-120"/>
              </a:rPr>
              <a:t>Key Regional Insight</a:t>
            </a:r>
            <a:endParaRPr lang="en-US" sz="1200" dirty="0"/>
          </a:p>
        </p:txBody>
      </p:sp>
      <p:sp>
        <p:nvSpPr>
          <p:cNvPr id="9" name="Text 5"/>
          <p:cNvSpPr/>
          <p:nvPr/>
        </p:nvSpPr>
        <p:spPr>
          <a:xfrm>
            <a:off x="438912" y="4114800"/>
            <a:ext cx="8321040" cy="713232"/>
          </a:xfrm>
          <a:prstGeom prst="rect">
            <a:avLst/>
          </a:prstGeom>
          <a:noFill/>
          <a:ln/>
        </p:spPr>
        <p:txBody>
          <a:bodyPr wrap="square" rtlCol="0" anchor="ctr"/>
          <a:lstStyle/>
          <a:p>
            <a:pPr marL="0" indent="0">
              <a:buNone/>
            </a:pPr>
            <a:r>
              <a:rPr lang="en-US" sz="1150" dirty="0">
                <a:solidFill>
                  <a:srgbClr val="1A1A1A"/>
                </a:solidFill>
                <a:latin typeface="Calibri" pitchFamily="34" charset="0"/>
                <a:ea typeface="Calibri" pitchFamily="34" charset="-122"/>
                <a:cs typeface="Calibri" pitchFamily="34" charset="-120"/>
              </a:rPr>
              <a:t>States WITH bottle deposit laws (Michigan, Oregon, NY) recycle 2.4× more glass than states WITHOUT deposit laws. Michigan's 10-cent deposit produces a 91.4% glass rate - Texas has 14.8% with no deposit policy. Policy, not geography, drives recycling performance.</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9FBF9"/>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2E7D32"/>
          </a:solidFill>
          <a:ln w="12700">
            <a:solidFill>
              <a:srgbClr val="2E7D32"/>
            </a:solidFill>
            <a:prstDash val="solid"/>
          </a:ln>
        </p:spPr>
      </p:sp>
      <p:sp>
        <p:nvSpPr>
          <p:cNvPr id="3" name="Text 1"/>
          <p:cNvSpPr/>
          <p:nvPr/>
        </p:nvSpPr>
        <p:spPr>
          <a:xfrm>
            <a:off x="365760" y="91440"/>
            <a:ext cx="8229600" cy="59436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EDA - Global Comparison</a:t>
            </a:r>
            <a:endParaRPr lang="en-US" sz="2800" dirty="0"/>
          </a:p>
        </p:txBody>
      </p:sp>
      <p:pic>
        <p:nvPicPr>
          <p:cNvPr id="4" name="Image 0" descr="preencoded.png"/>
          <p:cNvPicPr>
            <a:picLocks noChangeAspect="1"/>
          </p:cNvPicPr>
          <p:nvPr/>
        </p:nvPicPr>
        <p:blipFill>
          <a:blip r:embed="rId3"/>
          <a:srcRect/>
          <a:stretch/>
        </p:blipFill>
        <p:spPr>
          <a:xfrm>
            <a:off x="228600" y="868680"/>
            <a:ext cx="5303520" cy="3977640"/>
          </a:xfrm>
          <a:prstGeom prst="rect">
            <a:avLst/>
          </a:prstGeom>
        </p:spPr>
      </p:pic>
      <p:sp>
        <p:nvSpPr>
          <p:cNvPr id="5" name="Shape 2"/>
          <p:cNvSpPr/>
          <p:nvPr/>
        </p:nvSpPr>
        <p:spPr>
          <a:xfrm>
            <a:off x="5760720" y="868680"/>
            <a:ext cx="3108960" cy="914400"/>
          </a:xfrm>
          <a:prstGeom prst="rect">
            <a:avLst/>
          </a:prstGeom>
          <a:solidFill>
            <a:srgbClr val="FFFFFF"/>
          </a:solidFill>
          <a:ln w="12700">
            <a:solidFill>
              <a:srgbClr val="DDDDDD"/>
            </a:solidFill>
            <a:prstDash val="solid"/>
          </a:ln>
        </p:spPr>
      </p:sp>
      <p:sp>
        <p:nvSpPr>
          <p:cNvPr id="6" name="Text 3"/>
          <p:cNvSpPr/>
          <p:nvPr/>
        </p:nvSpPr>
        <p:spPr>
          <a:xfrm>
            <a:off x="5806440" y="923544"/>
            <a:ext cx="1097280" cy="749808"/>
          </a:xfrm>
          <a:prstGeom prst="rect">
            <a:avLst/>
          </a:prstGeom>
          <a:noFill/>
          <a:ln/>
        </p:spPr>
        <p:txBody>
          <a:bodyPr wrap="square" lIns="0" tIns="0" rIns="0" bIns="0" rtlCol="0" anchor="ctr"/>
          <a:lstStyle/>
          <a:p>
            <a:pPr marL="0" indent="0" algn="ctr">
              <a:buNone/>
            </a:pPr>
            <a:r>
              <a:rPr lang="en-US" sz="3000" b="1" dirty="0">
                <a:solidFill>
                  <a:srgbClr val="2E7D32"/>
                </a:solidFill>
                <a:latin typeface="Calibri" pitchFamily="34" charset="0"/>
                <a:ea typeface="Calibri" pitchFamily="34" charset="-122"/>
                <a:cs typeface="Calibri" pitchFamily="34" charset="-120"/>
              </a:rPr>
              <a:t>54%</a:t>
            </a:r>
            <a:endParaRPr lang="en-US" sz="3000" dirty="0"/>
          </a:p>
        </p:txBody>
      </p:sp>
      <p:sp>
        <p:nvSpPr>
          <p:cNvPr id="7" name="Shape 4"/>
          <p:cNvSpPr/>
          <p:nvPr/>
        </p:nvSpPr>
        <p:spPr>
          <a:xfrm>
            <a:off x="6967728" y="978408"/>
            <a:ext cx="0" cy="685800"/>
          </a:xfrm>
          <a:prstGeom prst="line">
            <a:avLst/>
          </a:prstGeom>
          <a:noFill/>
          <a:ln w="12700">
            <a:solidFill>
              <a:srgbClr val="DDDDDD"/>
            </a:solidFill>
            <a:prstDash val="solid"/>
          </a:ln>
        </p:spPr>
      </p:sp>
      <p:sp>
        <p:nvSpPr>
          <p:cNvPr id="8" name="Text 5"/>
          <p:cNvSpPr/>
          <p:nvPr/>
        </p:nvSpPr>
        <p:spPr>
          <a:xfrm>
            <a:off x="7059168" y="960120"/>
            <a:ext cx="1737360" cy="347472"/>
          </a:xfrm>
          <a:prstGeom prst="rect">
            <a:avLst/>
          </a:prstGeom>
          <a:noFill/>
          <a:ln/>
        </p:spPr>
        <p:txBody>
          <a:bodyPr wrap="square" rtlCol="0" anchor="ctr"/>
          <a:lstStyle/>
          <a:p>
            <a:pPr marL="0" indent="0">
              <a:buNone/>
            </a:pPr>
            <a:r>
              <a:rPr lang="en-US" sz="1300" b="1" dirty="0">
                <a:solidFill>
                  <a:srgbClr val="1A1A1A"/>
                </a:solidFill>
                <a:latin typeface="Calibri" pitchFamily="34" charset="0"/>
                <a:ea typeface="Calibri" pitchFamily="34" charset="-122"/>
                <a:cs typeface="Calibri" pitchFamily="34" charset="-120"/>
              </a:rPr>
              <a:t>South Korea</a:t>
            </a:r>
            <a:endParaRPr lang="en-US" sz="1300" dirty="0"/>
          </a:p>
        </p:txBody>
      </p:sp>
      <p:sp>
        <p:nvSpPr>
          <p:cNvPr id="9" name="Text 6"/>
          <p:cNvSpPr/>
          <p:nvPr/>
        </p:nvSpPr>
        <p:spPr>
          <a:xfrm>
            <a:off x="7059168" y="1344168"/>
            <a:ext cx="1737360" cy="320040"/>
          </a:xfrm>
          <a:prstGeom prst="rect">
            <a:avLst/>
          </a:prstGeom>
          <a:noFill/>
          <a:ln/>
        </p:spPr>
        <p:txBody>
          <a:bodyPr wrap="square" rtlCol="0" anchor="ctr"/>
          <a:lstStyle/>
          <a:p>
            <a:pPr marL="0" indent="0">
              <a:buNone/>
            </a:pPr>
            <a:r>
              <a:rPr lang="en-US" sz="1100" dirty="0">
                <a:solidFill>
                  <a:srgbClr val="546E7A"/>
                </a:solidFill>
                <a:latin typeface="Calibri" pitchFamily="34" charset="0"/>
                <a:ea typeface="Calibri" pitchFamily="34" charset="-122"/>
                <a:cs typeface="Calibri" pitchFamily="34" charset="-120"/>
              </a:rPr>
              <a:t>#1 globally</a:t>
            </a:r>
            <a:endParaRPr lang="en-US" sz="1100" dirty="0"/>
          </a:p>
        </p:txBody>
      </p:sp>
      <p:sp>
        <p:nvSpPr>
          <p:cNvPr id="10" name="Shape 7"/>
          <p:cNvSpPr/>
          <p:nvPr/>
        </p:nvSpPr>
        <p:spPr>
          <a:xfrm>
            <a:off x="5760720" y="1920240"/>
            <a:ext cx="3108960" cy="914400"/>
          </a:xfrm>
          <a:prstGeom prst="rect">
            <a:avLst/>
          </a:prstGeom>
          <a:solidFill>
            <a:srgbClr val="FFFFFF"/>
          </a:solidFill>
          <a:ln w="12700">
            <a:solidFill>
              <a:srgbClr val="DDDDDD"/>
            </a:solidFill>
            <a:prstDash val="solid"/>
          </a:ln>
        </p:spPr>
      </p:sp>
      <p:sp>
        <p:nvSpPr>
          <p:cNvPr id="11" name="Text 8"/>
          <p:cNvSpPr/>
          <p:nvPr/>
        </p:nvSpPr>
        <p:spPr>
          <a:xfrm>
            <a:off x="5806440" y="1975104"/>
            <a:ext cx="1097280" cy="749808"/>
          </a:xfrm>
          <a:prstGeom prst="rect">
            <a:avLst/>
          </a:prstGeom>
          <a:noFill/>
          <a:ln/>
        </p:spPr>
        <p:txBody>
          <a:bodyPr wrap="square" lIns="0" tIns="0" rIns="0" bIns="0" rtlCol="0" anchor="ctr"/>
          <a:lstStyle/>
          <a:p>
            <a:pPr marL="0" indent="0" algn="ctr">
              <a:buNone/>
            </a:pPr>
            <a:r>
              <a:rPr lang="en-US" sz="3000" b="1" dirty="0">
                <a:solidFill>
                  <a:srgbClr val="1565C0"/>
                </a:solidFill>
                <a:latin typeface="Calibri" pitchFamily="34" charset="0"/>
                <a:ea typeface="Calibri" pitchFamily="34" charset="-122"/>
                <a:cs typeface="Calibri" pitchFamily="34" charset="-120"/>
              </a:rPr>
              <a:t>47%</a:t>
            </a:r>
            <a:endParaRPr lang="en-US" sz="3000" dirty="0"/>
          </a:p>
        </p:txBody>
      </p:sp>
      <p:sp>
        <p:nvSpPr>
          <p:cNvPr id="12" name="Shape 9"/>
          <p:cNvSpPr/>
          <p:nvPr/>
        </p:nvSpPr>
        <p:spPr>
          <a:xfrm>
            <a:off x="6967728" y="2029968"/>
            <a:ext cx="0" cy="685800"/>
          </a:xfrm>
          <a:prstGeom prst="line">
            <a:avLst/>
          </a:prstGeom>
          <a:noFill/>
          <a:ln w="12700">
            <a:solidFill>
              <a:srgbClr val="DDDDDD"/>
            </a:solidFill>
            <a:prstDash val="solid"/>
          </a:ln>
        </p:spPr>
      </p:sp>
      <p:sp>
        <p:nvSpPr>
          <p:cNvPr id="13" name="Text 10"/>
          <p:cNvSpPr/>
          <p:nvPr/>
        </p:nvSpPr>
        <p:spPr>
          <a:xfrm>
            <a:off x="7059168" y="2011680"/>
            <a:ext cx="1737360" cy="347472"/>
          </a:xfrm>
          <a:prstGeom prst="rect">
            <a:avLst/>
          </a:prstGeom>
          <a:noFill/>
          <a:ln/>
        </p:spPr>
        <p:txBody>
          <a:bodyPr wrap="square" rtlCol="0" anchor="ctr"/>
          <a:lstStyle/>
          <a:p>
            <a:pPr marL="0" indent="0">
              <a:buNone/>
            </a:pPr>
            <a:r>
              <a:rPr lang="en-US" sz="1300" b="1" dirty="0">
                <a:solidFill>
                  <a:srgbClr val="1A1A1A"/>
                </a:solidFill>
                <a:latin typeface="Calibri" pitchFamily="34" charset="0"/>
                <a:ea typeface="Calibri" pitchFamily="34" charset="-122"/>
                <a:cs typeface="Calibri" pitchFamily="34" charset="-120"/>
              </a:rPr>
              <a:t>Germany</a:t>
            </a:r>
            <a:endParaRPr lang="en-US" sz="1300" dirty="0"/>
          </a:p>
        </p:txBody>
      </p:sp>
      <p:sp>
        <p:nvSpPr>
          <p:cNvPr id="14" name="Text 11"/>
          <p:cNvSpPr/>
          <p:nvPr/>
        </p:nvSpPr>
        <p:spPr>
          <a:xfrm>
            <a:off x="7059168" y="2395728"/>
            <a:ext cx="1737360" cy="320040"/>
          </a:xfrm>
          <a:prstGeom prst="rect">
            <a:avLst/>
          </a:prstGeom>
          <a:noFill/>
          <a:ln/>
        </p:spPr>
        <p:txBody>
          <a:bodyPr wrap="square" rtlCol="0" anchor="ctr"/>
          <a:lstStyle/>
          <a:p>
            <a:pPr marL="0" indent="0">
              <a:buNone/>
            </a:pPr>
            <a:r>
              <a:rPr lang="en-US" sz="1100" dirty="0">
                <a:solidFill>
                  <a:srgbClr val="546E7A"/>
                </a:solidFill>
                <a:latin typeface="Calibri" pitchFamily="34" charset="0"/>
                <a:ea typeface="Calibri" pitchFamily="34" charset="-122"/>
                <a:cs typeface="Calibri" pitchFamily="34" charset="-120"/>
              </a:rPr>
              <a:t>#2 globally</a:t>
            </a:r>
            <a:endParaRPr lang="en-US" sz="1100" dirty="0"/>
          </a:p>
        </p:txBody>
      </p:sp>
      <p:sp>
        <p:nvSpPr>
          <p:cNvPr id="15" name="Shape 12"/>
          <p:cNvSpPr/>
          <p:nvPr/>
        </p:nvSpPr>
        <p:spPr>
          <a:xfrm>
            <a:off x="5760720" y="2971800"/>
            <a:ext cx="3108960" cy="914400"/>
          </a:xfrm>
          <a:prstGeom prst="rect">
            <a:avLst/>
          </a:prstGeom>
          <a:solidFill>
            <a:srgbClr val="FFFFFF"/>
          </a:solidFill>
          <a:ln w="12700">
            <a:solidFill>
              <a:srgbClr val="DDDDDD"/>
            </a:solidFill>
            <a:prstDash val="solid"/>
          </a:ln>
        </p:spPr>
      </p:sp>
      <p:sp>
        <p:nvSpPr>
          <p:cNvPr id="16" name="Text 13"/>
          <p:cNvSpPr/>
          <p:nvPr/>
        </p:nvSpPr>
        <p:spPr>
          <a:xfrm>
            <a:off x="5806440" y="3026664"/>
            <a:ext cx="1097280" cy="749808"/>
          </a:xfrm>
          <a:prstGeom prst="rect">
            <a:avLst/>
          </a:prstGeom>
          <a:noFill/>
          <a:ln/>
        </p:spPr>
        <p:txBody>
          <a:bodyPr wrap="square" lIns="0" tIns="0" rIns="0" bIns="0" rtlCol="0" anchor="ctr"/>
          <a:lstStyle/>
          <a:p>
            <a:pPr marL="0" indent="0" algn="ctr">
              <a:buNone/>
            </a:pPr>
            <a:r>
              <a:rPr lang="en-US" sz="3000" b="1" dirty="0">
                <a:solidFill>
                  <a:srgbClr val="C62828"/>
                </a:solidFill>
                <a:latin typeface="Calibri" pitchFamily="34" charset="0"/>
                <a:ea typeface="Calibri" pitchFamily="34" charset="-122"/>
                <a:cs typeface="Calibri" pitchFamily="34" charset="-120"/>
              </a:rPr>
              <a:t>25%</a:t>
            </a:r>
            <a:endParaRPr lang="en-US" sz="3000" dirty="0"/>
          </a:p>
        </p:txBody>
      </p:sp>
      <p:sp>
        <p:nvSpPr>
          <p:cNvPr id="17" name="Shape 14"/>
          <p:cNvSpPr/>
          <p:nvPr/>
        </p:nvSpPr>
        <p:spPr>
          <a:xfrm>
            <a:off x="6967728" y="3081528"/>
            <a:ext cx="0" cy="685800"/>
          </a:xfrm>
          <a:prstGeom prst="line">
            <a:avLst/>
          </a:prstGeom>
          <a:noFill/>
          <a:ln w="12700">
            <a:solidFill>
              <a:srgbClr val="DDDDDD"/>
            </a:solidFill>
            <a:prstDash val="solid"/>
          </a:ln>
        </p:spPr>
      </p:sp>
      <p:sp>
        <p:nvSpPr>
          <p:cNvPr id="18" name="Text 15"/>
          <p:cNvSpPr/>
          <p:nvPr/>
        </p:nvSpPr>
        <p:spPr>
          <a:xfrm>
            <a:off x="7059168" y="3063240"/>
            <a:ext cx="1737360" cy="347472"/>
          </a:xfrm>
          <a:prstGeom prst="rect">
            <a:avLst/>
          </a:prstGeom>
          <a:noFill/>
          <a:ln/>
        </p:spPr>
        <p:txBody>
          <a:bodyPr wrap="square" rtlCol="0" anchor="ctr"/>
          <a:lstStyle/>
          <a:p>
            <a:pPr marL="0" indent="0">
              <a:buNone/>
            </a:pPr>
            <a:r>
              <a:rPr lang="en-US" sz="1300" b="1" dirty="0">
                <a:solidFill>
                  <a:srgbClr val="1A1A1A"/>
                </a:solidFill>
                <a:latin typeface="Calibri" pitchFamily="34" charset="0"/>
                <a:ea typeface="Calibri" pitchFamily="34" charset="-122"/>
                <a:cs typeface="Calibri" pitchFamily="34" charset="-120"/>
              </a:rPr>
              <a:t>United States</a:t>
            </a:r>
            <a:endParaRPr lang="en-US" sz="1300" dirty="0"/>
          </a:p>
        </p:txBody>
      </p:sp>
      <p:sp>
        <p:nvSpPr>
          <p:cNvPr id="19" name="Text 16"/>
          <p:cNvSpPr/>
          <p:nvPr/>
        </p:nvSpPr>
        <p:spPr>
          <a:xfrm>
            <a:off x="7059168" y="3447288"/>
            <a:ext cx="1737360" cy="320040"/>
          </a:xfrm>
          <a:prstGeom prst="rect">
            <a:avLst/>
          </a:prstGeom>
          <a:noFill/>
          <a:ln/>
        </p:spPr>
        <p:txBody>
          <a:bodyPr wrap="square" rtlCol="0" anchor="ctr"/>
          <a:lstStyle/>
          <a:p>
            <a:pPr marL="0" indent="0">
              <a:buNone/>
            </a:pPr>
            <a:r>
              <a:rPr lang="en-US" sz="1100" dirty="0">
                <a:solidFill>
                  <a:srgbClr val="546E7A"/>
                </a:solidFill>
                <a:latin typeface="Calibri" pitchFamily="34" charset="0"/>
                <a:ea typeface="Calibri" pitchFamily="34" charset="-122"/>
                <a:cs typeface="Calibri" pitchFamily="34" charset="-120"/>
              </a:rPr>
              <a:t>7th of 15 shown</a:t>
            </a:r>
            <a:endParaRPr lang="en-US" sz="1100" dirty="0"/>
          </a:p>
        </p:txBody>
      </p:sp>
      <p:sp>
        <p:nvSpPr>
          <p:cNvPr id="20" name="Shape 17"/>
          <p:cNvSpPr/>
          <p:nvPr/>
        </p:nvSpPr>
        <p:spPr>
          <a:xfrm>
            <a:off x="5760720" y="4023360"/>
            <a:ext cx="3108960" cy="914400"/>
          </a:xfrm>
          <a:prstGeom prst="rect">
            <a:avLst/>
          </a:prstGeom>
          <a:solidFill>
            <a:srgbClr val="FFFFFF"/>
          </a:solidFill>
          <a:ln w="12700">
            <a:solidFill>
              <a:srgbClr val="DDDDDD"/>
            </a:solidFill>
            <a:prstDash val="solid"/>
          </a:ln>
        </p:spPr>
      </p:sp>
      <p:sp>
        <p:nvSpPr>
          <p:cNvPr id="21" name="Text 18"/>
          <p:cNvSpPr/>
          <p:nvPr/>
        </p:nvSpPr>
        <p:spPr>
          <a:xfrm>
            <a:off x="5806440" y="4078224"/>
            <a:ext cx="1097280" cy="749808"/>
          </a:xfrm>
          <a:prstGeom prst="rect">
            <a:avLst/>
          </a:prstGeom>
          <a:noFill/>
          <a:ln/>
        </p:spPr>
        <p:txBody>
          <a:bodyPr wrap="square" lIns="0" tIns="0" rIns="0" bIns="0" rtlCol="0" anchor="ctr"/>
          <a:lstStyle/>
          <a:p>
            <a:pPr marL="0" indent="0" algn="ctr">
              <a:buNone/>
            </a:pPr>
            <a:r>
              <a:rPr lang="en-US" sz="3000" b="1" dirty="0">
                <a:solidFill>
                  <a:srgbClr val="F57F17"/>
                </a:solidFill>
                <a:latin typeface="Calibri" pitchFamily="34" charset="0"/>
                <a:ea typeface="Calibri" pitchFamily="34" charset="-122"/>
                <a:cs typeface="Calibri" pitchFamily="34" charset="-120"/>
              </a:rPr>
              <a:t>50%</a:t>
            </a:r>
            <a:endParaRPr lang="en-US" sz="3000" dirty="0"/>
          </a:p>
        </p:txBody>
      </p:sp>
      <p:sp>
        <p:nvSpPr>
          <p:cNvPr id="22" name="Shape 19"/>
          <p:cNvSpPr/>
          <p:nvPr/>
        </p:nvSpPr>
        <p:spPr>
          <a:xfrm>
            <a:off x="6967728" y="4133088"/>
            <a:ext cx="0" cy="685800"/>
          </a:xfrm>
          <a:prstGeom prst="line">
            <a:avLst/>
          </a:prstGeom>
          <a:noFill/>
          <a:ln w="12700">
            <a:solidFill>
              <a:srgbClr val="DDDDDD"/>
            </a:solidFill>
            <a:prstDash val="solid"/>
          </a:ln>
        </p:spPr>
      </p:sp>
      <p:sp>
        <p:nvSpPr>
          <p:cNvPr id="23" name="Text 20"/>
          <p:cNvSpPr/>
          <p:nvPr/>
        </p:nvSpPr>
        <p:spPr>
          <a:xfrm>
            <a:off x="7059168" y="4114800"/>
            <a:ext cx="1737360" cy="347472"/>
          </a:xfrm>
          <a:prstGeom prst="rect">
            <a:avLst/>
          </a:prstGeom>
          <a:noFill/>
          <a:ln/>
        </p:spPr>
        <p:txBody>
          <a:bodyPr wrap="square" rtlCol="0" anchor="ctr"/>
          <a:lstStyle/>
          <a:p>
            <a:pPr marL="0" indent="0">
              <a:buNone/>
            </a:pPr>
            <a:r>
              <a:rPr lang="en-US" sz="1300" b="1" dirty="0">
                <a:solidFill>
                  <a:srgbClr val="1A1A1A"/>
                </a:solidFill>
                <a:latin typeface="Calibri" pitchFamily="34" charset="0"/>
                <a:ea typeface="Calibri" pitchFamily="34" charset="-122"/>
                <a:cs typeface="Calibri" pitchFamily="34" charset="-120"/>
              </a:rPr>
              <a:t>EPA Target</a:t>
            </a:r>
            <a:endParaRPr lang="en-US" sz="1300" dirty="0"/>
          </a:p>
        </p:txBody>
      </p:sp>
      <p:sp>
        <p:nvSpPr>
          <p:cNvPr id="24" name="Text 21"/>
          <p:cNvSpPr/>
          <p:nvPr/>
        </p:nvSpPr>
        <p:spPr>
          <a:xfrm>
            <a:off x="7059168" y="4498848"/>
            <a:ext cx="1737360" cy="320040"/>
          </a:xfrm>
          <a:prstGeom prst="rect">
            <a:avLst/>
          </a:prstGeom>
          <a:noFill/>
          <a:ln/>
        </p:spPr>
        <p:txBody>
          <a:bodyPr wrap="square" rtlCol="0" anchor="ctr"/>
          <a:lstStyle/>
          <a:p>
            <a:pPr marL="0" indent="0">
              <a:buNone/>
            </a:pPr>
            <a:r>
              <a:rPr lang="en-US" sz="1100" dirty="0">
                <a:solidFill>
                  <a:srgbClr val="546E7A"/>
                </a:solidFill>
                <a:latin typeface="Calibri" pitchFamily="34" charset="0"/>
                <a:ea typeface="Calibri" pitchFamily="34" charset="-122"/>
                <a:cs typeface="Calibri" pitchFamily="34" charset="-120"/>
              </a:rPr>
              <a:t>Goal by 2030</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9FBF9"/>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2E7D32"/>
          </a:solidFill>
          <a:ln w="12700">
            <a:solidFill>
              <a:srgbClr val="2E7D32"/>
            </a:solidFill>
            <a:prstDash val="solid"/>
          </a:ln>
        </p:spPr>
      </p:sp>
      <p:sp>
        <p:nvSpPr>
          <p:cNvPr id="3" name="Text 1"/>
          <p:cNvSpPr/>
          <p:nvPr/>
        </p:nvSpPr>
        <p:spPr>
          <a:xfrm>
            <a:off x="365760" y="91440"/>
            <a:ext cx="8229600" cy="59436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Key Findings</a:t>
            </a:r>
            <a:endParaRPr lang="en-US" sz="2800" dirty="0"/>
          </a:p>
        </p:txBody>
      </p:sp>
      <p:sp>
        <p:nvSpPr>
          <p:cNvPr id="4" name="Shape 2"/>
          <p:cNvSpPr/>
          <p:nvPr/>
        </p:nvSpPr>
        <p:spPr>
          <a:xfrm>
            <a:off x="228600" y="896112"/>
            <a:ext cx="4297680" cy="1234440"/>
          </a:xfrm>
          <a:prstGeom prst="rect">
            <a:avLst/>
          </a:prstGeom>
          <a:solidFill>
            <a:srgbClr val="FFFFFF"/>
          </a:solidFill>
          <a:ln w="12700">
            <a:solidFill>
              <a:srgbClr val="DDDDDD"/>
            </a:solidFill>
            <a:prstDash val="solid"/>
          </a:ln>
        </p:spPr>
      </p:sp>
      <p:sp>
        <p:nvSpPr>
          <p:cNvPr id="5" name="Shape 3"/>
          <p:cNvSpPr/>
          <p:nvPr/>
        </p:nvSpPr>
        <p:spPr>
          <a:xfrm>
            <a:off x="228600" y="896112"/>
            <a:ext cx="502920" cy="1234440"/>
          </a:xfrm>
          <a:prstGeom prst="rect">
            <a:avLst/>
          </a:prstGeom>
          <a:solidFill>
            <a:srgbClr val="C62828"/>
          </a:solidFill>
          <a:ln w="12700">
            <a:solidFill>
              <a:srgbClr val="C62828"/>
            </a:solidFill>
            <a:prstDash val="solid"/>
          </a:ln>
        </p:spPr>
      </p:sp>
      <p:sp>
        <p:nvSpPr>
          <p:cNvPr id="6" name="Text 4"/>
          <p:cNvSpPr/>
          <p:nvPr/>
        </p:nvSpPr>
        <p:spPr>
          <a:xfrm>
            <a:off x="228600" y="1243584"/>
            <a:ext cx="50292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F1</a:t>
            </a:r>
            <a:endParaRPr lang="en-US" sz="1800" dirty="0"/>
          </a:p>
        </p:txBody>
      </p:sp>
      <p:sp>
        <p:nvSpPr>
          <p:cNvPr id="7" name="Text 5"/>
          <p:cNvSpPr/>
          <p:nvPr/>
        </p:nvSpPr>
        <p:spPr>
          <a:xfrm>
            <a:off x="822960" y="950976"/>
            <a:ext cx="3611880" cy="347472"/>
          </a:xfrm>
          <a:prstGeom prst="rect">
            <a:avLst/>
          </a:prstGeom>
          <a:noFill/>
          <a:ln/>
        </p:spPr>
        <p:txBody>
          <a:bodyPr wrap="square" rtlCol="0" anchor="ctr"/>
          <a:lstStyle/>
          <a:p>
            <a:pPr marL="0" indent="0">
              <a:buNone/>
            </a:pPr>
            <a:r>
              <a:rPr lang="en-US" sz="1200" b="1" dirty="0">
                <a:solidFill>
                  <a:srgbClr val="C62828"/>
                </a:solidFill>
                <a:latin typeface="Calibri" pitchFamily="34" charset="0"/>
                <a:ea typeface="Calibri" pitchFamily="34" charset="-122"/>
                <a:cs typeface="Calibri" pitchFamily="34" charset="-120"/>
              </a:rPr>
              <a:t>The Plastic Crisis</a:t>
            </a:r>
            <a:endParaRPr lang="en-US" sz="1200" dirty="0"/>
          </a:p>
        </p:txBody>
      </p:sp>
      <p:sp>
        <p:nvSpPr>
          <p:cNvPr id="8" name="Text 6"/>
          <p:cNvSpPr/>
          <p:nvPr/>
        </p:nvSpPr>
        <p:spPr>
          <a:xfrm>
            <a:off x="822960" y="1316736"/>
            <a:ext cx="3611880" cy="731520"/>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Plastic recycling has NEVER exceeded 10% in the US. Across 58 years, it grew from 0% to just 8.7% - 7× slower than paper.</a:t>
            </a:r>
            <a:endParaRPr lang="en-US" sz="1100" dirty="0"/>
          </a:p>
        </p:txBody>
      </p:sp>
      <p:sp>
        <p:nvSpPr>
          <p:cNvPr id="9" name="Shape 7"/>
          <p:cNvSpPr/>
          <p:nvPr/>
        </p:nvSpPr>
        <p:spPr>
          <a:xfrm>
            <a:off x="228600" y="2286000"/>
            <a:ext cx="4297680" cy="1234440"/>
          </a:xfrm>
          <a:prstGeom prst="rect">
            <a:avLst/>
          </a:prstGeom>
          <a:solidFill>
            <a:srgbClr val="FFFFFF"/>
          </a:solidFill>
          <a:ln w="12700">
            <a:solidFill>
              <a:srgbClr val="DDDDDD"/>
            </a:solidFill>
            <a:prstDash val="solid"/>
          </a:ln>
        </p:spPr>
      </p:sp>
      <p:sp>
        <p:nvSpPr>
          <p:cNvPr id="10" name="Shape 8"/>
          <p:cNvSpPr/>
          <p:nvPr/>
        </p:nvSpPr>
        <p:spPr>
          <a:xfrm>
            <a:off x="228600" y="2286000"/>
            <a:ext cx="502920" cy="1234440"/>
          </a:xfrm>
          <a:prstGeom prst="rect">
            <a:avLst/>
          </a:prstGeom>
          <a:solidFill>
            <a:srgbClr val="2E7D32"/>
          </a:solidFill>
          <a:ln w="12700">
            <a:solidFill>
              <a:srgbClr val="2E7D32"/>
            </a:solidFill>
            <a:prstDash val="solid"/>
          </a:ln>
        </p:spPr>
      </p:sp>
      <p:sp>
        <p:nvSpPr>
          <p:cNvPr id="11" name="Text 9"/>
          <p:cNvSpPr/>
          <p:nvPr/>
        </p:nvSpPr>
        <p:spPr>
          <a:xfrm>
            <a:off x="228600" y="2633472"/>
            <a:ext cx="50292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F2</a:t>
            </a:r>
            <a:endParaRPr lang="en-US" sz="1800" dirty="0"/>
          </a:p>
        </p:txBody>
      </p:sp>
      <p:sp>
        <p:nvSpPr>
          <p:cNvPr id="12" name="Text 10"/>
          <p:cNvSpPr/>
          <p:nvPr/>
        </p:nvSpPr>
        <p:spPr>
          <a:xfrm>
            <a:off x="822960" y="2340864"/>
            <a:ext cx="3611880" cy="347472"/>
          </a:xfrm>
          <a:prstGeom prst="rect">
            <a:avLst/>
          </a:prstGeom>
          <a:noFill/>
          <a:ln/>
        </p:spPr>
        <p:txBody>
          <a:bodyPr wrap="square" rtlCol="0" anchor="ctr"/>
          <a:lstStyle/>
          <a:p>
            <a:pPr marL="0" indent="0">
              <a:buNone/>
            </a:pPr>
            <a:r>
              <a:rPr lang="en-US" sz="1200" b="1" dirty="0">
                <a:solidFill>
                  <a:srgbClr val="2E7D32"/>
                </a:solidFill>
                <a:latin typeface="Calibri" pitchFamily="34" charset="0"/>
                <a:ea typeface="Calibri" pitchFamily="34" charset="-122"/>
                <a:cs typeface="Calibri" pitchFamily="34" charset="-120"/>
              </a:rPr>
              <a:t>Paper Proves What's Possible</a:t>
            </a:r>
            <a:endParaRPr lang="en-US" sz="1200" dirty="0"/>
          </a:p>
        </p:txBody>
      </p:sp>
      <p:sp>
        <p:nvSpPr>
          <p:cNvPr id="13" name="Text 11"/>
          <p:cNvSpPr/>
          <p:nvPr/>
        </p:nvSpPr>
        <p:spPr>
          <a:xfrm>
            <a:off x="822960" y="2706624"/>
            <a:ext cx="3611880" cy="731520"/>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Paper grew by 51.3 percentage points (16.9% → 68.2%) with R² = 0.97. Consistent policy and infrastructure investment works.</a:t>
            </a:r>
            <a:endParaRPr lang="en-US" sz="1100" dirty="0"/>
          </a:p>
        </p:txBody>
      </p:sp>
      <p:sp>
        <p:nvSpPr>
          <p:cNvPr id="14" name="Shape 12"/>
          <p:cNvSpPr/>
          <p:nvPr/>
        </p:nvSpPr>
        <p:spPr>
          <a:xfrm>
            <a:off x="228600" y="3675888"/>
            <a:ext cx="4297680" cy="1234440"/>
          </a:xfrm>
          <a:prstGeom prst="rect">
            <a:avLst/>
          </a:prstGeom>
          <a:solidFill>
            <a:srgbClr val="FFFFFF"/>
          </a:solidFill>
          <a:ln w="12700">
            <a:solidFill>
              <a:srgbClr val="DDDDDD"/>
            </a:solidFill>
            <a:prstDash val="solid"/>
          </a:ln>
        </p:spPr>
      </p:sp>
      <p:sp>
        <p:nvSpPr>
          <p:cNvPr id="15" name="Shape 13"/>
          <p:cNvSpPr/>
          <p:nvPr/>
        </p:nvSpPr>
        <p:spPr>
          <a:xfrm>
            <a:off x="228600" y="3675888"/>
            <a:ext cx="502920" cy="1234440"/>
          </a:xfrm>
          <a:prstGeom prst="rect">
            <a:avLst/>
          </a:prstGeom>
          <a:solidFill>
            <a:srgbClr val="1565C0"/>
          </a:solidFill>
          <a:ln w="12700">
            <a:solidFill>
              <a:srgbClr val="1565C0"/>
            </a:solidFill>
            <a:prstDash val="solid"/>
          </a:ln>
        </p:spPr>
      </p:sp>
      <p:sp>
        <p:nvSpPr>
          <p:cNvPr id="16" name="Text 14"/>
          <p:cNvSpPr/>
          <p:nvPr/>
        </p:nvSpPr>
        <p:spPr>
          <a:xfrm>
            <a:off x="228600" y="4023360"/>
            <a:ext cx="50292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F3</a:t>
            </a:r>
            <a:endParaRPr lang="en-US" sz="1800" dirty="0"/>
          </a:p>
        </p:txBody>
      </p:sp>
      <p:sp>
        <p:nvSpPr>
          <p:cNvPr id="17" name="Text 15"/>
          <p:cNvSpPr/>
          <p:nvPr/>
        </p:nvSpPr>
        <p:spPr>
          <a:xfrm>
            <a:off x="822960" y="3730752"/>
            <a:ext cx="3611880" cy="347472"/>
          </a:xfrm>
          <a:prstGeom prst="rect">
            <a:avLst/>
          </a:prstGeom>
          <a:noFill/>
          <a:ln/>
        </p:spPr>
        <p:txBody>
          <a:bodyPr wrap="square" rtlCol="0" anchor="ctr"/>
          <a:lstStyle/>
          <a:p>
            <a:pPr marL="0" indent="0">
              <a:buNone/>
            </a:pPr>
            <a:r>
              <a:rPr lang="en-US" sz="1200" b="1" dirty="0">
                <a:solidFill>
                  <a:srgbClr val="1565C0"/>
                </a:solidFill>
                <a:latin typeface="Calibri" pitchFamily="34" charset="0"/>
                <a:ea typeface="Calibri" pitchFamily="34" charset="-122"/>
                <a:cs typeface="Calibri" pitchFamily="34" charset="-120"/>
              </a:rPr>
              <a:t>Deposit Laws Work Dramatically</a:t>
            </a:r>
            <a:endParaRPr lang="en-US" sz="1200" dirty="0"/>
          </a:p>
        </p:txBody>
      </p:sp>
      <p:sp>
        <p:nvSpPr>
          <p:cNvPr id="18" name="Text 16"/>
          <p:cNvSpPr/>
          <p:nvPr/>
        </p:nvSpPr>
        <p:spPr>
          <a:xfrm>
            <a:off x="822960" y="4096512"/>
            <a:ext cx="3611880" cy="731520"/>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Deposit states recycle 2.4× more glass (73.2% vs 30.4%) and 1.4× more metal. Financial incentives beat awareness campaigns.</a:t>
            </a:r>
            <a:endParaRPr lang="en-US" sz="1100" dirty="0"/>
          </a:p>
        </p:txBody>
      </p:sp>
      <p:sp>
        <p:nvSpPr>
          <p:cNvPr id="19" name="Shape 17"/>
          <p:cNvSpPr/>
          <p:nvPr/>
        </p:nvSpPr>
        <p:spPr>
          <a:xfrm>
            <a:off x="4754880" y="896112"/>
            <a:ext cx="4297680" cy="1234440"/>
          </a:xfrm>
          <a:prstGeom prst="rect">
            <a:avLst/>
          </a:prstGeom>
          <a:solidFill>
            <a:srgbClr val="FFFFFF"/>
          </a:solidFill>
          <a:ln w="12700">
            <a:solidFill>
              <a:srgbClr val="DDDDDD"/>
            </a:solidFill>
            <a:prstDash val="solid"/>
          </a:ln>
        </p:spPr>
      </p:sp>
      <p:sp>
        <p:nvSpPr>
          <p:cNvPr id="20" name="Shape 18"/>
          <p:cNvSpPr/>
          <p:nvPr/>
        </p:nvSpPr>
        <p:spPr>
          <a:xfrm>
            <a:off x="4754880" y="896112"/>
            <a:ext cx="502920" cy="1234440"/>
          </a:xfrm>
          <a:prstGeom prst="rect">
            <a:avLst/>
          </a:prstGeom>
          <a:solidFill>
            <a:srgbClr val="6A1B9A"/>
          </a:solidFill>
          <a:ln w="12700">
            <a:solidFill>
              <a:srgbClr val="6A1B9A"/>
            </a:solidFill>
            <a:prstDash val="solid"/>
          </a:ln>
        </p:spPr>
      </p:sp>
      <p:sp>
        <p:nvSpPr>
          <p:cNvPr id="21" name="Text 19"/>
          <p:cNvSpPr/>
          <p:nvPr/>
        </p:nvSpPr>
        <p:spPr>
          <a:xfrm>
            <a:off x="4754880" y="1243584"/>
            <a:ext cx="50292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F4</a:t>
            </a:r>
            <a:endParaRPr lang="en-US" sz="1800" dirty="0"/>
          </a:p>
        </p:txBody>
      </p:sp>
      <p:sp>
        <p:nvSpPr>
          <p:cNvPr id="22" name="Text 20"/>
          <p:cNvSpPr/>
          <p:nvPr/>
        </p:nvSpPr>
        <p:spPr>
          <a:xfrm>
            <a:off x="5349240" y="950976"/>
            <a:ext cx="3611880" cy="347472"/>
          </a:xfrm>
          <a:prstGeom prst="rect">
            <a:avLst/>
          </a:prstGeom>
          <a:noFill/>
          <a:ln/>
        </p:spPr>
        <p:txBody>
          <a:bodyPr wrap="square" rtlCol="0" anchor="ctr"/>
          <a:lstStyle/>
          <a:p>
            <a:pPr marL="0" indent="0">
              <a:buNone/>
            </a:pPr>
            <a:r>
              <a:rPr lang="en-US" sz="1200" b="1" dirty="0">
                <a:solidFill>
                  <a:srgbClr val="6A1B9A"/>
                </a:solidFill>
                <a:latin typeface="Calibri" pitchFamily="34" charset="0"/>
                <a:ea typeface="Calibri" pitchFamily="34" charset="-122"/>
                <a:cs typeface="Calibri" pitchFamily="34" charset="-120"/>
              </a:rPr>
              <a:t>51pp State Policy Divide</a:t>
            </a:r>
            <a:endParaRPr lang="en-US" sz="1200" dirty="0"/>
          </a:p>
        </p:txBody>
      </p:sp>
      <p:sp>
        <p:nvSpPr>
          <p:cNvPr id="23" name="Text 21"/>
          <p:cNvSpPr/>
          <p:nvPr/>
        </p:nvSpPr>
        <p:spPr>
          <a:xfrm>
            <a:off x="5349240" y="1316736"/>
            <a:ext cx="3611880" cy="731520"/>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Michigan averages 67.4% across materials. Texas averages 24.7%. State recycling policy - not geography - drives outcomes.</a:t>
            </a:r>
            <a:endParaRPr lang="en-US" sz="1100" dirty="0"/>
          </a:p>
        </p:txBody>
      </p:sp>
      <p:sp>
        <p:nvSpPr>
          <p:cNvPr id="24" name="Shape 22"/>
          <p:cNvSpPr/>
          <p:nvPr/>
        </p:nvSpPr>
        <p:spPr>
          <a:xfrm>
            <a:off x="4754880" y="2286000"/>
            <a:ext cx="4297680" cy="1234440"/>
          </a:xfrm>
          <a:prstGeom prst="rect">
            <a:avLst/>
          </a:prstGeom>
          <a:solidFill>
            <a:srgbClr val="FFFFFF"/>
          </a:solidFill>
          <a:ln w="12700">
            <a:solidFill>
              <a:srgbClr val="DDDDDD"/>
            </a:solidFill>
            <a:prstDash val="solid"/>
          </a:ln>
        </p:spPr>
      </p:sp>
      <p:sp>
        <p:nvSpPr>
          <p:cNvPr id="25" name="Shape 23"/>
          <p:cNvSpPr/>
          <p:nvPr/>
        </p:nvSpPr>
        <p:spPr>
          <a:xfrm>
            <a:off x="4754880" y="2286000"/>
            <a:ext cx="502920" cy="1234440"/>
          </a:xfrm>
          <a:prstGeom prst="rect">
            <a:avLst/>
          </a:prstGeom>
          <a:solidFill>
            <a:srgbClr val="F57F17"/>
          </a:solidFill>
          <a:ln w="12700">
            <a:solidFill>
              <a:srgbClr val="F57F17"/>
            </a:solidFill>
            <a:prstDash val="solid"/>
          </a:ln>
        </p:spPr>
      </p:sp>
      <p:sp>
        <p:nvSpPr>
          <p:cNvPr id="26" name="Text 24"/>
          <p:cNvSpPr/>
          <p:nvPr/>
        </p:nvSpPr>
        <p:spPr>
          <a:xfrm>
            <a:off x="4754880" y="2633472"/>
            <a:ext cx="50292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F5</a:t>
            </a:r>
            <a:endParaRPr lang="en-US" sz="1800" dirty="0"/>
          </a:p>
        </p:txBody>
      </p:sp>
      <p:sp>
        <p:nvSpPr>
          <p:cNvPr id="27" name="Text 25"/>
          <p:cNvSpPr/>
          <p:nvPr/>
        </p:nvSpPr>
        <p:spPr>
          <a:xfrm>
            <a:off x="5349240" y="2340864"/>
            <a:ext cx="3611880" cy="347472"/>
          </a:xfrm>
          <a:prstGeom prst="rect">
            <a:avLst/>
          </a:prstGeom>
          <a:noFill/>
          <a:ln/>
        </p:spPr>
        <p:txBody>
          <a:bodyPr wrap="square" rtlCol="0" anchor="ctr"/>
          <a:lstStyle/>
          <a:p>
            <a:pPr marL="0" indent="0">
              <a:buNone/>
            </a:pPr>
            <a:r>
              <a:rPr lang="en-US" sz="1200" b="1" dirty="0">
                <a:solidFill>
                  <a:srgbClr val="F57F17"/>
                </a:solidFill>
                <a:latin typeface="Calibri" pitchFamily="34" charset="0"/>
                <a:ea typeface="Calibri" pitchFamily="34" charset="-122"/>
                <a:cs typeface="Calibri" pitchFamily="34" charset="-120"/>
              </a:rPr>
              <a:t>US Lags Behind Globally</a:t>
            </a:r>
            <a:endParaRPr lang="en-US" sz="1200" dirty="0"/>
          </a:p>
        </p:txBody>
      </p:sp>
      <p:sp>
        <p:nvSpPr>
          <p:cNvPr id="28" name="Text 26"/>
          <p:cNvSpPr/>
          <p:nvPr/>
        </p:nvSpPr>
        <p:spPr>
          <a:xfrm>
            <a:off x="5349240" y="2706624"/>
            <a:ext cx="3611880" cy="731520"/>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US at 25% recycles roughly half of South Korea (54%) and Germany (47%). Without federal action, the 50% EPA target is unlikely.</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9FBF9"/>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2E7D32"/>
          </a:solidFill>
          <a:ln w="12700">
            <a:solidFill>
              <a:srgbClr val="2E7D32"/>
            </a:solidFill>
            <a:prstDash val="solid"/>
          </a:ln>
        </p:spPr>
      </p:sp>
      <p:sp>
        <p:nvSpPr>
          <p:cNvPr id="3" name="Text 1"/>
          <p:cNvSpPr/>
          <p:nvPr/>
        </p:nvSpPr>
        <p:spPr>
          <a:xfrm>
            <a:off x="365760" y="91440"/>
            <a:ext cx="8229600" cy="59436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Dashboard Overview</a:t>
            </a:r>
            <a:endParaRPr lang="en-US" sz="2800" dirty="0"/>
          </a:p>
        </p:txBody>
      </p:sp>
      <p:sp>
        <p:nvSpPr>
          <p:cNvPr id="5" name="Text 2"/>
          <p:cNvSpPr/>
          <p:nvPr/>
        </p:nvSpPr>
        <p:spPr>
          <a:xfrm>
            <a:off x="5440680" y="896112"/>
            <a:ext cx="3474720" cy="347472"/>
          </a:xfrm>
          <a:prstGeom prst="rect">
            <a:avLst/>
          </a:prstGeom>
          <a:noFill/>
          <a:ln/>
        </p:spPr>
        <p:txBody>
          <a:bodyPr wrap="square" rtlCol="0" anchor="ctr"/>
          <a:lstStyle/>
          <a:p>
            <a:pPr marL="0" indent="0">
              <a:buNone/>
            </a:pPr>
            <a:r>
              <a:rPr lang="en-US" sz="1400" b="1" dirty="0">
                <a:solidFill>
                  <a:srgbClr val="2E7D32"/>
                </a:solidFill>
                <a:latin typeface="Calibri" pitchFamily="34" charset="0"/>
                <a:ea typeface="Calibri" pitchFamily="34" charset="-122"/>
                <a:cs typeface="Calibri" pitchFamily="34" charset="-120"/>
              </a:rPr>
              <a:t>Dashboard Features</a:t>
            </a:r>
            <a:endParaRPr lang="en-US" sz="1400" dirty="0"/>
          </a:p>
        </p:txBody>
      </p:sp>
      <p:sp>
        <p:nvSpPr>
          <p:cNvPr id="6" name="Text 3"/>
          <p:cNvSpPr/>
          <p:nvPr/>
        </p:nvSpPr>
        <p:spPr>
          <a:xfrm>
            <a:off x="5440680" y="1325880"/>
            <a:ext cx="3474720" cy="3200400"/>
          </a:xfrm>
          <a:prstGeom prst="rect">
            <a:avLst/>
          </a:prstGeom>
          <a:noFill/>
          <a:ln/>
        </p:spPr>
        <p:txBody>
          <a:bodyPr wrap="square" rtlCol="0" anchor="ctr"/>
          <a:lstStyle/>
          <a:p>
            <a:pPr marL="342900" indent="-342900">
              <a:spcAft>
                <a:spcPts val="400"/>
              </a:spcAft>
              <a:buSzPct val="100000"/>
              <a:buChar char="•"/>
            </a:pPr>
            <a:r>
              <a:rPr lang="en-US" sz="1200" dirty="0">
                <a:solidFill>
                  <a:srgbClr val="1A1A1A"/>
                </a:solidFill>
                <a:latin typeface="Calibri" pitchFamily="34" charset="0"/>
                <a:ea typeface="Calibri" pitchFamily="34" charset="-122"/>
                <a:cs typeface="Calibri" pitchFamily="34" charset="-120"/>
              </a:rPr>
              <a:t>4 interactive sections: About, US Trends, By State, Global</a:t>
            </a:r>
            <a:endParaRPr lang="en-US" sz="1200" dirty="0"/>
          </a:p>
          <a:p>
            <a:pPr marL="342900" indent="-342900">
              <a:spcAft>
                <a:spcPts val="400"/>
              </a:spcAft>
              <a:buSzPct val="100000"/>
              <a:buChar char="•"/>
            </a:pPr>
            <a:r>
              <a:rPr lang="en-US" sz="1200" dirty="0">
                <a:solidFill>
                  <a:srgbClr val="1A1A1A"/>
                </a:solidFill>
                <a:latin typeface="Calibri" pitchFamily="34" charset="0"/>
                <a:ea typeface="Calibri" pitchFamily="34" charset="-122"/>
                <a:cs typeface="Calibri" pitchFamily="34" charset="-120"/>
              </a:rPr>
              <a:t>9 REST API endpoints (Flask)</a:t>
            </a:r>
            <a:endParaRPr lang="en-US" sz="1200" dirty="0"/>
          </a:p>
          <a:p>
            <a:pPr marL="342900" indent="-342900">
              <a:spcAft>
                <a:spcPts val="400"/>
              </a:spcAft>
              <a:buSzPct val="100000"/>
              <a:buChar char="•"/>
            </a:pPr>
            <a:r>
              <a:rPr lang="en-US" sz="1200" dirty="0">
                <a:solidFill>
                  <a:srgbClr val="1A1A1A"/>
                </a:solidFill>
                <a:latin typeface="Calibri" pitchFamily="34" charset="0"/>
                <a:ea typeface="Calibri" pitchFamily="34" charset="-122"/>
                <a:cs typeface="Calibri" pitchFamily="34" charset="-120"/>
              </a:rPr>
              <a:t>Real-time Chart.js charts with dropdown filters</a:t>
            </a:r>
            <a:endParaRPr lang="en-US" sz="1200" dirty="0"/>
          </a:p>
          <a:p>
            <a:pPr marL="342900" indent="-342900">
              <a:spcAft>
                <a:spcPts val="400"/>
              </a:spcAft>
              <a:buSzPct val="100000"/>
              <a:buChar char="•"/>
            </a:pPr>
            <a:r>
              <a:rPr lang="en-US" sz="1200" dirty="0">
                <a:solidFill>
                  <a:srgbClr val="1A1A1A"/>
                </a:solidFill>
                <a:latin typeface="Calibri" pitchFamily="34" charset="0"/>
                <a:ea typeface="Calibri" pitchFamily="34" charset="-122"/>
                <a:cs typeface="Calibri" pitchFamily="34" charset="-120"/>
              </a:rPr>
              <a:t>State × Material heatmap</a:t>
            </a:r>
            <a:endParaRPr lang="en-US" sz="1200" dirty="0"/>
          </a:p>
          <a:p>
            <a:pPr marL="342900" indent="-342900">
              <a:spcAft>
                <a:spcPts val="400"/>
              </a:spcAft>
              <a:buSzPct val="100000"/>
              <a:buChar char="•"/>
            </a:pPr>
            <a:r>
              <a:rPr lang="en-US" sz="1200" dirty="0">
                <a:solidFill>
                  <a:srgbClr val="1A1A1A"/>
                </a:solidFill>
                <a:latin typeface="Calibri" pitchFamily="34" charset="0"/>
                <a:ea typeface="Calibri" pitchFamily="34" charset="-122"/>
                <a:cs typeface="Calibri" pitchFamily="34" charset="-120"/>
              </a:rPr>
              <a:t>Deposit law grouped comparison chart</a:t>
            </a:r>
            <a:endParaRPr lang="en-US" sz="1200" dirty="0"/>
          </a:p>
          <a:p>
            <a:pPr marL="342900" indent="-342900">
              <a:spcAft>
                <a:spcPts val="400"/>
              </a:spcAft>
              <a:buSzPct val="100000"/>
              <a:buChar char="•"/>
            </a:pPr>
            <a:r>
              <a:rPr lang="en-US" sz="1200" dirty="0">
                <a:solidFill>
                  <a:srgbClr val="1A1A1A"/>
                </a:solidFill>
                <a:latin typeface="Calibri" pitchFamily="34" charset="0"/>
                <a:ea typeface="Calibri" pitchFamily="34" charset="-122"/>
                <a:cs typeface="Calibri" pitchFamily="34" charset="-120"/>
              </a:rPr>
              <a:t>Dark mode toggle</a:t>
            </a:r>
            <a:endParaRPr lang="en-US" sz="1200" dirty="0"/>
          </a:p>
          <a:p>
            <a:pPr marL="342900" indent="-342900">
              <a:spcAft>
                <a:spcPts val="400"/>
              </a:spcAft>
              <a:buSzPct val="100000"/>
              <a:buChar char="•"/>
            </a:pPr>
            <a:r>
              <a:rPr lang="en-US" sz="1200" dirty="0">
                <a:solidFill>
                  <a:srgbClr val="1A1A1A"/>
                </a:solidFill>
                <a:latin typeface="Calibri" pitchFamily="34" charset="0"/>
                <a:ea typeface="Calibri" pitchFamily="34" charset="-122"/>
                <a:cs typeface="Calibri" pitchFamily="34" charset="-120"/>
              </a:rPr>
              <a:t>Fully responsive layout</a:t>
            </a:r>
            <a:endParaRPr lang="en-US" sz="1200" dirty="0"/>
          </a:p>
          <a:p>
            <a:pPr marL="342900" indent="-342900">
              <a:spcAft>
                <a:spcPts val="400"/>
              </a:spcAft>
              <a:buSzPct val="100000"/>
              <a:buChar char="•"/>
            </a:pPr>
            <a:r>
              <a:rPr lang="en-US" sz="1200" dirty="0">
                <a:solidFill>
                  <a:srgbClr val="1A1A1A"/>
                </a:solidFill>
                <a:latin typeface="Calibri" pitchFamily="34" charset="0"/>
                <a:ea typeface="Calibri" pitchFamily="34" charset="-122"/>
                <a:cs typeface="Calibri" pitchFamily="34" charset="-120"/>
              </a:rPr>
              <a:t>All data served live from CSV files</a:t>
            </a:r>
            <a:endParaRPr lang="en-US" sz="1200" dirty="0"/>
          </a:p>
        </p:txBody>
      </p:sp>
      <p:pic>
        <p:nvPicPr>
          <p:cNvPr id="7" name="Image 1" descr="preencoded.png"/>
          <p:cNvPicPr>
            <a:picLocks noChangeAspect="1"/>
          </p:cNvPicPr>
          <p:nvPr/>
        </p:nvPicPr>
        <p:blipFill>
          <a:blip r:embed="rId3"/>
          <a:srcRect/>
          <a:stretch/>
        </p:blipFill>
        <p:spPr>
          <a:xfrm>
            <a:off x="228600" y="3364992"/>
            <a:ext cx="5029200" cy="1600200"/>
          </a:xfrm>
          <a:prstGeom prst="rect">
            <a:avLst/>
          </a:prstGeom>
        </p:spPr>
      </p:pic>
      <p:pic>
        <p:nvPicPr>
          <p:cNvPr id="9" name="Picture 8">
            <a:extLst>
              <a:ext uri="{FF2B5EF4-FFF2-40B4-BE49-F238E27FC236}">
                <a16:creationId xmlns:a16="http://schemas.microsoft.com/office/drawing/2014/main" id="{EBE2CA4E-6D64-0460-569F-555123104531}"/>
              </a:ext>
            </a:extLst>
          </p:cNvPr>
          <p:cNvPicPr>
            <a:picLocks noChangeAspect="1"/>
          </p:cNvPicPr>
          <p:nvPr/>
        </p:nvPicPr>
        <p:blipFill>
          <a:blip r:embed="rId4"/>
          <a:stretch>
            <a:fillRect/>
          </a:stretch>
        </p:blipFill>
        <p:spPr>
          <a:xfrm>
            <a:off x="228600" y="868680"/>
            <a:ext cx="5029200" cy="240487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9FBF9"/>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2E7D32"/>
          </a:solidFill>
          <a:ln w="12700">
            <a:solidFill>
              <a:srgbClr val="2E7D32"/>
            </a:solidFill>
            <a:prstDash val="solid"/>
          </a:ln>
        </p:spPr>
      </p:sp>
      <p:sp>
        <p:nvSpPr>
          <p:cNvPr id="3" name="Text 1"/>
          <p:cNvSpPr/>
          <p:nvPr/>
        </p:nvSpPr>
        <p:spPr>
          <a:xfrm>
            <a:off x="365760" y="91440"/>
            <a:ext cx="8229600" cy="59436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EDA - Code &amp; Analysis Approach</a:t>
            </a:r>
            <a:endParaRPr lang="en-US" sz="2800" dirty="0"/>
          </a:p>
        </p:txBody>
      </p:sp>
      <p:sp>
        <p:nvSpPr>
          <p:cNvPr id="5" name="Text 2"/>
          <p:cNvSpPr/>
          <p:nvPr/>
        </p:nvSpPr>
        <p:spPr>
          <a:xfrm>
            <a:off x="228600" y="4043680"/>
            <a:ext cx="8686800" cy="384048"/>
          </a:xfrm>
          <a:prstGeom prst="rect">
            <a:avLst/>
          </a:prstGeom>
          <a:noFill/>
          <a:ln/>
        </p:spPr>
        <p:txBody>
          <a:bodyPr wrap="square" rtlCol="0" anchor="ctr"/>
          <a:lstStyle/>
          <a:p>
            <a:pPr marL="0" indent="0">
              <a:buNone/>
            </a:pPr>
            <a:r>
              <a:rPr lang="en-US" sz="1150" i="1" dirty="0">
                <a:solidFill>
                  <a:srgbClr val="546E7A"/>
                </a:solidFill>
                <a:latin typeface="Calibri" pitchFamily="34" charset="0"/>
                <a:ea typeface="Calibri" pitchFamily="34" charset="-122"/>
                <a:cs typeface="Calibri" pitchFamily="34" charset="-120"/>
              </a:rPr>
              <a:t>Tools used: pandas  •  matplotlib  •  seaborn  •  scipy.stats  •  Linear Regression  •  Correlation Matrix  •  Box Plots  •  Heatmap</a:t>
            </a:r>
            <a:endParaRPr lang="en-US" sz="1150" dirty="0"/>
          </a:p>
        </p:txBody>
      </p:sp>
      <p:pic>
        <p:nvPicPr>
          <p:cNvPr id="1030" name="Picture 6">
            <a:extLst>
              <a:ext uri="{FF2B5EF4-FFF2-40B4-BE49-F238E27FC236}">
                <a16:creationId xmlns:a16="http://schemas.microsoft.com/office/drawing/2014/main" id="{CB8BDB59-D1D0-5FE5-0045-77A7E1D2FE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760" y="1236265"/>
            <a:ext cx="4113938" cy="2670969"/>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1">
            <a:extLst>
              <a:ext uri="{FF2B5EF4-FFF2-40B4-BE49-F238E27FC236}">
                <a16:creationId xmlns:a16="http://schemas.microsoft.com/office/drawing/2014/main" id="{4DC157CF-36D6-B2E2-E3BE-27446A6841B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87916" y="1236264"/>
            <a:ext cx="4227484" cy="2670969"/>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C520F68F-963F-D699-242B-03AB9D758E73}"/>
              </a:ext>
            </a:extLst>
          </p:cNvPr>
          <p:cNvSpPr>
            <a:spLocks noChangeArrowheads="1"/>
          </p:cNvSpPr>
          <p:nvPr/>
        </p:nvSpPr>
        <p:spPr bwMode="auto">
          <a:xfrm>
            <a:off x="1231900" y="-686277"/>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9FBF9"/>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2E7D32"/>
          </a:solidFill>
          <a:ln w="12700">
            <a:solidFill>
              <a:srgbClr val="2E7D32"/>
            </a:solidFill>
            <a:prstDash val="solid"/>
          </a:ln>
        </p:spPr>
      </p:sp>
      <p:sp>
        <p:nvSpPr>
          <p:cNvPr id="3" name="Text 1"/>
          <p:cNvSpPr/>
          <p:nvPr/>
        </p:nvSpPr>
        <p:spPr>
          <a:xfrm>
            <a:off x="365760" y="91440"/>
            <a:ext cx="8229600" cy="59436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Roles &amp; Responsibilities</a:t>
            </a:r>
            <a:endParaRPr lang="en-US" sz="2800" dirty="0"/>
          </a:p>
        </p:txBody>
      </p:sp>
      <p:sp>
        <p:nvSpPr>
          <p:cNvPr id="4" name="Shape 2"/>
          <p:cNvSpPr/>
          <p:nvPr/>
        </p:nvSpPr>
        <p:spPr>
          <a:xfrm>
            <a:off x="274320" y="896112"/>
            <a:ext cx="4160520" cy="3931920"/>
          </a:xfrm>
          <a:prstGeom prst="rect">
            <a:avLst/>
          </a:prstGeom>
          <a:solidFill>
            <a:srgbClr val="FFFFFF"/>
          </a:solidFill>
          <a:ln w="12700">
            <a:solidFill>
              <a:srgbClr val="C8E6C9"/>
            </a:solidFill>
            <a:prstDash val="solid"/>
          </a:ln>
        </p:spPr>
      </p:sp>
      <p:sp>
        <p:nvSpPr>
          <p:cNvPr id="5" name="Shape 3"/>
          <p:cNvSpPr/>
          <p:nvPr/>
        </p:nvSpPr>
        <p:spPr>
          <a:xfrm>
            <a:off x="274320" y="896112"/>
            <a:ext cx="4160520" cy="566928"/>
          </a:xfrm>
          <a:prstGeom prst="rect">
            <a:avLst/>
          </a:prstGeom>
          <a:solidFill>
            <a:srgbClr val="2E7D32"/>
          </a:solidFill>
          <a:ln w="12700">
            <a:solidFill>
              <a:srgbClr val="2E7D32"/>
            </a:solidFill>
            <a:prstDash val="solid"/>
          </a:ln>
        </p:spPr>
      </p:sp>
      <p:sp>
        <p:nvSpPr>
          <p:cNvPr id="6" name="Text 4"/>
          <p:cNvSpPr/>
          <p:nvPr/>
        </p:nvSpPr>
        <p:spPr>
          <a:xfrm>
            <a:off x="365760" y="932688"/>
            <a:ext cx="3977640" cy="347472"/>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Vinayak Vemula</a:t>
            </a:r>
            <a:endParaRPr lang="en-US" sz="1600" dirty="0"/>
          </a:p>
        </p:txBody>
      </p:sp>
      <p:sp>
        <p:nvSpPr>
          <p:cNvPr id="7" name="Text 5"/>
          <p:cNvSpPr/>
          <p:nvPr/>
        </p:nvSpPr>
        <p:spPr>
          <a:xfrm>
            <a:off x="365760" y="1261872"/>
            <a:ext cx="3977640" cy="274320"/>
          </a:xfrm>
          <a:prstGeom prst="rect">
            <a:avLst/>
          </a:prstGeom>
          <a:noFill/>
          <a:ln/>
        </p:spPr>
        <p:txBody>
          <a:bodyPr wrap="square" rtlCol="0" anchor="ctr"/>
          <a:lstStyle/>
          <a:p>
            <a:pPr marL="0" indent="0">
              <a:buNone/>
            </a:pPr>
            <a:endParaRPr lang="en-US" sz="1200" dirty="0"/>
          </a:p>
        </p:txBody>
      </p:sp>
      <p:sp>
        <p:nvSpPr>
          <p:cNvPr id="8" name="Text 6"/>
          <p:cNvSpPr/>
          <p:nvPr/>
        </p:nvSpPr>
        <p:spPr>
          <a:xfrm>
            <a:off x="365760" y="1600200"/>
            <a:ext cx="3977640" cy="3127248"/>
          </a:xfrm>
          <a:prstGeom prst="rect">
            <a:avLst/>
          </a:prstGeom>
          <a:noFill/>
          <a:ln/>
        </p:spPr>
        <p:txBody>
          <a:bodyPr wrap="square" rtlCol="0" anchor="ctr"/>
          <a:lstStyle/>
          <a:p>
            <a:pPr marL="342900" indent="-342900">
              <a:spcAft>
                <a:spcPts val="500"/>
              </a:spcAft>
              <a:buSzPct val="100000"/>
              <a:buChar char="•"/>
            </a:pPr>
            <a:r>
              <a:rPr lang="en-US" sz="1150" dirty="0">
                <a:solidFill>
                  <a:srgbClr val="1A1A1A"/>
                </a:solidFill>
                <a:latin typeface="Calibri" pitchFamily="34" charset="0"/>
                <a:ea typeface="Calibri" pitchFamily="34" charset="-122"/>
                <a:cs typeface="Calibri" pitchFamily="34" charset="-120"/>
              </a:rPr>
              <a:t>Identified and collected data from EPA, state agencies, and OECD</a:t>
            </a:r>
            <a:endParaRPr lang="en-US" sz="1150" dirty="0"/>
          </a:p>
          <a:p>
            <a:pPr marL="342900" indent="-342900">
              <a:spcAft>
                <a:spcPts val="500"/>
              </a:spcAft>
              <a:buSzPct val="100000"/>
              <a:buChar char="•"/>
            </a:pPr>
            <a:r>
              <a:rPr lang="en-US" sz="1150" dirty="0">
                <a:solidFill>
                  <a:srgbClr val="1A1A1A"/>
                </a:solidFill>
                <a:latin typeface="Calibri" pitchFamily="34" charset="0"/>
                <a:ea typeface="Calibri" pitchFamily="34" charset="-122"/>
                <a:cs typeface="Calibri" pitchFamily="34" charset="-120"/>
              </a:rPr>
              <a:t>Built the data preprocessing pipeline (data_preprocessing.py)</a:t>
            </a:r>
            <a:endParaRPr lang="en-US" sz="1150" dirty="0"/>
          </a:p>
          <a:p>
            <a:pPr marL="342900" indent="-342900">
              <a:spcAft>
                <a:spcPts val="500"/>
              </a:spcAft>
              <a:buSzPct val="100000"/>
              <a:buChar char="•"/>
            </a:pPr>
            <a:r>
              <a:rPr lang="en-US" sz="1150" dirty="0">
                <a:solidFill>
                  <a:srgbClr val="1A1A1A"/>
                </a:solidFill>
                <a:latin typeface="Calibri" pitchFamily="34" charset="0"/>
                <a:ea typeface="Calibri" pitchFamily="34" charset="-122"/>
                <a:cs typeface="Calibri" pitchFamily="34" charset="-120"/>
              </a:rPr>
              <a:t>Performed full EDA in Jupyter notebook (recycling_eda.ipynb)</a:t>
            </a:r>
            <a:endParaRPr lang="en-US" sz="1150" dirty="0"/>
          </a:p>
          <a:p>
            <a:pPr marL="342900" indent="-342900">
              <a:spcAft>
                <a:spcPts val="500"/>
              </a:spcAft>
              <a:buSzPct val="100000"/>
              <a:buChar char="•"/>
            </a:pPr>
            <a:r>
              <a:rPr lang="en-US" sz="1150" dirty="0">
                <a:solidFill>
                  <a:srgbClr val="1A1A1A"/>
                </a:solidFill>
                <a:latin typeface="Calibri" pitchFamily="34" charset="0"/>
                <a:ea typeface="Calibri" pitchFamily="34" charset="-122"/>
                <a:cs typeface="Calibri" pitchFamily="34" charset="-120"/>
              </a:rPr>
              <a:t>Applied linear regression, correlation analysis, and box plots</a:t>
            </a:r>
            <a:endParaRPr lang="en-US" sz="1150" dirty="0"/>
          </a:p>
          <a:p>
            <a:pPr marL="342900" indent="-342900">
              <a:spcAft>
                <a:spcPts val="500"/>
              </a:spcAft>
              <a:buSzPct val="100000"/>
              <a:buChar char="•"/>
            </a:pPr>
            <a:r>
              <a:rPr lang="en-US" sz="1150" dirty="0">
                <a:solidFill>
                  <a:srgbClr val="1A1A1A"/>
                </a:solidFill>
                <a:latin typeface="Calibri" pitchFamily="34" charset="0"/>
                <a:ea typeface="Calibri" pitchFamily="34" charset="-122"/>
                <a:cs typeface="Calibri" pitchFamily="34" charset="-120"/>
              </a:rPr>
              <a:t>Analyzed deposit law policy impact on state recycling rates</a:t>
            </a:r>
            <a:endParaRPr lang="en-US" sz="1150" dirty="0"/>
          </a:p>
          <a:p>
            <a:pPr marL="342900" indent="-342900">
              <a:spcAft>
                <a:spcPts val="500"/>
              </a:spcAft>
              <a:buSzPct val="100000"/>
              <a:buChar char="•"/>
            </a:pPr>
            <a:r>
              <a:rPr lang="en-US" sz="1150" dirty="0">
                <a:solidFill>
                  <a:srgbClr val="1A1A1A"/>
                </a:solidFill>
                <a:latin typeface="Calibri" pitchFamily="34" charset="0"/>
                <a:ea typeface="Calibri" pitchFamily="34" charset="-122"/>
                <a:cs typeface="Calibri" pitchFamily="34" charset="-120"/>
              </a:rPr>
              <a:t>Wrote all statistical interpretations and key findings</a:t>
            </a:r>
            <a:endParaRPr lang="en-US" sz="1150" dirty="0"/>
          </a:p>
          <a:p>
            <a:pPr marL="342900" indent="-342900">
              <a:spcAft>
                <a:spcPts val="500"/>
              </a:spcAft>
              <a:buSzPct val="100000"/>
              <a:buChar char="•"/>
            </a:pPr>
            <a:r>
              <a:rPr lang="en-US" sz="1150" dirty="0">
                <a:solidFill>
                  <a:srgbClr val="1A1A1A"/>
                </a:solidFill>
                <a:latin typeface="Calibri" pitchFamily="34" charset="0"/>
                <a:ea typeface="Calibri" pitchFamily="34" charset="-122"/>
                <a:cs typeface="Calibri" pitchFamily="34" charset="-120"/>
              </a:rPr>
              <a:t>Compiled the EDA report (EDA_Report.docx)</a:t>
            </a:r>
            <a:endParaRPr lang="en-US" sz="1150" dirty="0"/>
          </a:p>
        </p:txBody>
      </p:sp>
      <p:sp>
        <p:nvSpPr>
          <p:cNvPr id="9" name="Shape 7"/>
          <p:cNvSpPr/>
          <p:nvPr/>
        </p:nvSpPr>
        <p:spPr>
          <a:xfrm>
            <a:off x="4709160" y="896112"/>
            <a:ext cx="4160520" cy="3931920"/>
          </a:xfrm>
          <a:prstGeom prst="rect">
            <a:avLst/>
          </a:prstGeom>
          <a:solidFill>
            <a:srgbClr val="FFFFFF"/>
          </a:solidFill>
          <a:ln w="12700">
            <a:solidFill>
              <a:srgbClr val="BBDEFB"/>
            </a:solidFill>
            <a:prstDash val="solid"/>
          </a:ln>
        </p:spPr>
      </p:sp>
      <p:sp>
        <p:nvSpPr>
          <p:cNvPr id="10" name="Shape 8"/>
          <p:cNvSpPr/>
          <p:nvPr/>
        </p:nvSpPr>
        <p:spPr>
          <a:xfrm>
            <a:off x="4709160" y="896112"/>
            <a:ext cx="4160520" cy="566928"/>
          </a:xfrm>
          <a:prstGeom prst="rect">
            <a:avLst/>
          </a:prstGeom>
          <a:solidFill>
            <a:srgbClr val="1565C0"/>
          </a:solidFill>
          <a:ln w="12700">
            <a:solidFill>
              <a:srgbClr val="1565C0"/>
            </a:solidFill>
            <a:prstDash val="solid"/>
          </a:ln>
        </p:spPr>
      </p:sp>
      <p:sp>
        <p:nvSpPr>
          <p:cNvPr id="11" name="Text 9"/>
          <p:cNvSpPr/>
          <p:nvPr/>
        </p:nvSpPr>
        <p:spPr>
          <a:xfrm>
            <a:off x="4800600" y="932688"/>
            <a:ext cx="3977640" cy="347472"/>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Varshitha Kayithi</a:t>
            </a:r>
            <a:endParaRPr lang="en-US" sz="1600" dirty="0"/>
          </a:p>
        </p:txBody>
      </p:sp>
      <p:sp>
        <p:nvSpPr>
          <p:cNvPr id="12" name="Text 10"/>
          <p:cNvSpPr/>
          <p:nvPr/>
        </p:nvSpPr>
        <p:spPr>
          <a:xfrm>
            <a:off x="4800600" y="1261872"/>
            <a:ext cx="3977640" cy="274320"/>
          </a:xfrm>
          <a:prstGeom prst="rect">
            <a:avLst/>
          </a:prstGeom>
          <a:noFill/>
          <a:ln/>
        </p:spPr>
        <p:txBody>
          <a:bodyPr wrap="square" rtlCol="0" anchor="ctr"/>
          <a:lstStyle/>
          <a:p>
            <a:pPr marL="0" indent="0">
              <a:buNone/>
            </a:pPr>
            <a:endParaRPr lang="en-US" sz="1200" dirty="0"/>
          </a:p>
        </p:txBody>
      </p:sp>
      <p:sp>
        <p:nvSpPr>
          <p:cNvPr id="13" name="Text 11"/>
          <p:cNvSpPr/>
          <p:nvPr/>
        </p:nvSpPr>
        <p:spPr>
          <a:xfrm>
            <a:off x="4800600" y="1600200"/>
            <a:ext cx="3977640" cy="3127248"/>
          </a:xfrm>
          <a:prstGeom prst="rect">
            <a:avLst/>
          </a:prstGeom>
          <a:noFill/>
          <a:ln/>
        </p:spPr>
        <p:txBody>
          <a:bodyPr wrap="square" rtlCol="0" anchor="ctr"/>
          <a:lstStyle/>
          <a:p>
            <a:pPr marL="342900" indent="-342900">
              <a:spcAft>
                <a:spcPts val="500"/>
              </a:spcAft>
              <a:buSzPct val="100000"/>
              <a:buChar char="•"/>
            </a:pPr>
            <a:r>
              <a:rPr lang="en-US" sz="1150" dirty="0">
                <a:solidFill>
                  <a:srgbClr val="1A1A1A"/>
                </a:solidFill>
                <a:latin typeface="Calibri" pitchFamily="34" charset="0"/>
                <a:ea typeface="Calibri" pitchFamily="34" charset="-122"/>
                <a:cs typeface="Calibri" pitchFamily="34" charset="-120"/>
              </a:rPr>
              <a:t>Designed and built Flask REST API (app.py) with 9 endpoints</a:t>
            </a:r>
            <a:endParaRPr lang="en-US" sz="1150" dirty="0"/>
          </a:p>
          <a:p>
            <a:pPr marL="342900" indent="-342900">
              <a:spcAft>
                <a:spcPts val="500"/>
              </a:spcAft>
              <a:buSzPct val="100000"/>
              <a:buChar char="•"/>
            </a:pPr>
            <a:r>
              <a:rPr lang="en-US" sz="1150" dirty="0">
                <a:solidFill>
                  <a:srgbClr val="1A1A1A"/>
                </a:solidFill>
                <a:latin typeface="Calibri" pitchFamily="34" charset="0"/>
                <a:ea typeface="Calibri" pitchFamily="34" charset="-122"/>
                <a:cs typeface="Calibri" pitchFamily="34" charset="-120"/>
              </a:rPr>
              <a:t>Developed the complete HTML/CSS/JS dashboard (index.html)</a:t>
            </a:r>
            <a:endParaRPr lang="en-US" sz="1150" dirty="0"/>
          </a:p>
          <a:p>
            <a:pPr marL="342900" indent="-342900">
              <a:spcAft>
                <a:spcPts val="500"/>
              </a:spcAft>
              <a:buSzPct val="100000"/>
              <a:buChar char="•"/>
            </a:pPr>
            <a:r>
              <a:rPr lang="en-US" sz="1150" dirty="0">
                <a:solidFill>
                  <a:srgbClr val="1A1A1A"/>
                </a:solidFill>
                <a:latin typeface="Calibri" pitchFamily="34" charset="0"/>
                <a:ea typeface="Calibri" pitchFamily="34" charset="-122"/>
                <a:cs typeface="Calibri" pitchFamily="34" charset="-120"/>
              </a:rPr>
              <a:t>Implemented all Chart.js visualizations (line, bar, heatmap)</a:t>
            </a:r>
            <a:endParaRPr lang="en-US" sz="1150" dirty="0"/>
          </a:p>
          <a:p>
            <a:pPr marL="342900" indent="-342900">
              <a:spcAft>
                <a:spcPts val="500"/>
              </a:spcAft>
              <a:buSzPct val="100000"/>
              <a:buChar char="•"/>
            </a:pPr>
            <a:r>
              <a:rPr lang="en-US" sz="1150" dirty="0">
                <a:solidFill>
                  <a:srgbClr val="1A1A1A"/>
                </a:solidFill>
                <a:latin typeface="Calibri" pitchFamily="34" charset="0"/>
                <a:ea typeface="Calibri" pitchFamily="34" charset="-122"/>
                <a:cs typeface="Calibri" pitchFamily="34" charset="-120"/>
              </a:rPr>
              <a:t>Built real-time material and region filter functionality</a:t>
            </a:r>
            <a:endParaRPr lang="en-US" sz="1150" dirty="0"/>
          </a:p>
          <a:p>
            <a:pPr marL="342900" indent="-342900">
              <a:spcAft>
                <a:spcPts val="500"/>
              </a:spcAft>
              <a:buSzPct val="100000"/>
              <a:buChar char="•"/>
            </a:pPr>
            <a:r>
              <a:rPr lang="en-US" sz="1150" dirty="0">
                <a:solidFill>
                  <a:srgbClr val="1A1A1A"/>
                </a:solidFill>
                <a:latin typeface="Calibri" pitchFamily="34" charset="0"/>
                <a:ea typeface="Calibri" pitchFamily="34" charset="-122"/>
                <a:cs typeface="Calibri" pitchFamily="34" charset="-120"/>
              </a:rPr>
              <a:t>Created dark mode toggle and responsive layout</a:t>
            </a:r>
            <a:endParaRPr lang="en-US" sz="1150" dirty="0"/>
          </a:p>
          <a:p>
            <a:pPr marL="342900" indent="-342900">
              <a:spcAft>
                <a:spcPts val="500"/>
              </a:spcAft>
              <a:buSzPct val="100000"/>
              <a:buChar char="•"/>
            </a:pPr>
            <a:r>
              <a:rPr lang="en-US" sz="1150" dirty="0">
                <a:solidFill>
                  <a:srgbClr val="1A1A1A"/>
                </a:solidFill>
                <a:latin typeface="Calibri" pitchFamily="34" charset="0"/>
                <a:ea typeface="Calibri" pitchFamily="34" charset="-122"/>
                <a:cs typeface="Calibri" pitchFamily="34" charset="-120"/>
              </a:rPr>
              <a:t>Debugged all path and API connection issues</a:t>
            </a:r>
            <a:endParaRPr lang="en-US" sz="1150" dirty="0"/>
          </a:p>
          <a:p>
            <a:pPr marL="342900" indent="-342900">
              <a:spcAft>
                <a:spcPts val="500"/>
              </a:spcAft>
              <a:buSzPct val="100000"/>
              <a:buChar char="•"/>
            </a:pPr>
            <a:r>
              <a:rPr lang="en-US" sz="1150" dirty="0">
                <a:solidFill>
                  <a:srgbClr val="1A1A1A"/>
                </a:solidFill>
                <a:latin typeface="Calibri" pitchFamily="34" charset="0"/>
                <a:ea typeface="Calibri" pitchFamily="34" charset="-122"/>
                <a:cs typeface="Calibri" pitchFamily="34" charset="-120"/>
              </a:rPr>
              <a:t>Set up project folder structure and requirements.txt</a:t>
            </a:r>
            <a:endParaRPr lang="en-US" sz="1150" dirty="0"/>
          </a:p>
          <a:p>
            <a:pPr marL="342900" indent="-342900">
              <a:spcAft>
                <a:spcPts val="500"/>
              </a:spcAft>
              <a:buSzPct val="100000"/>
              <a:buChar char="•"/>
            </a:pPr>
            <a:r>
              <a:rPr lang="en-US" sz="1150" dirty="0">
                <a:solidFill>
                  <a:srgbClr val="1A1A1A"/>
                </a:solidFill>
                <a:latin typeface="Calibri" pitchFamily="34" charset="0"/>
                <a:ea typeface="Calibri" pitchFamily="34" charset="-122"/>
                <a:cs typeface="Calibri" pitchFamily="34" charset="-120"/>
              </a:rPr>
              <a:t>Prepared the PowerPoint presentation</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B3A1B"/>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43A047"/>
          </a:solidFill>
          <a:ln w="12700">
            <a:solidFill>
              <a:srgbClr val="43A047"/>
            </a:solidFill>
            <a:prstDash val="solid"/>
          </a:ln>
        </p:spPr>
      </p:sp>
      <p:sp>
        <p:nvSpPr>
          <p:cNvPr id="3" name="Text 1"/>
          <p:cNvSpPr/>
          <p:nvPr/>
        </p:nvSpPr>
        <p:spPr>
          <a:xfrm>
            <a:off x="365760" y="274320"/>
            <a:ext cx="8229600" cy="640080"/>
          </a:xfrm>
          <a:prstGeom prst="rect">
            <a:avLst/>
          </a:prstGeom>
          <a:noFill/>
          <a:ln/>
        </p:spPr>
        <p:txBody>
          <a:bodyPr wrap="square"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Conclusion</a:t>
            </a:r>
            <a:endParaRPr lang="en-US" sz="3600" dirty="0"/>
          </a:p>
        </p:txBody>
      </p:sp>
      <p:sp>
        <p:nvSpPr>
          <p:cNvPr id="4" name="Shape 2"/>
          <p:cNvSpPr/>
          <p:nvPr/>
        </p:nvSpPr>
        <p:spPr>
          <a:xfrm>
            <a:off x="365760" y="987552"/>
            <a:ext cx="8412480" cy="36576"/>
          </a:xfrm>
          <a:prstGeom prst="rect">
            <a:avLst/>
          </a:prstGeom>
          <a:solidFill>
            <a:srgbClr val="43A047"/>
          </a:solidFill>
          <a:ln w="12700">
            <a:solidFill>
              <a:srgbClr val="43A047"/>
            </a:solidFill>
            <a:prstDash val="solid"/>
          </a:ln>
        </p:spPr>
      </p:sp>
      <p:sp>
        <p:nvSpPr>
          <p:cNvPr id="5" name="Shape 3"/>
          <p:cNvSpPr/>
          <p:nvPr/>
        </p:nvSpPr>
        <p:spPr>
          <a:xfrm>
            <a:off x="365760" y="1143000"/>
            <a:ext cx="365760" cy="384048"/>
          </a:xfrm>
          <a:prstGeom prst="rect">
            <a:avLst/>
          </a:prstGeom>
          <a:solidFill>
            <a:srgbClr val="43A047"/>
          </a:solidFill>
          <a:ln w="12700">
            <a:solidFill>
              <a:srgbClr val="43A047"/>
            </a:solidFill>
            <a:prstDash val="solid"/>
          </a:ln>
        </p:spPr>
      </p:sp>
      <p:sp>
        <p:nvSpPr>
          <p:cNvPr id="6" name="Text 4"/>
          <p:cNvSpPr/>
          <p:nvPr/>
        </p:nvSpPr>
        <p:spPr>
          <a:xfrm>
            <a:off x="365760" y="1143000"/>
            <a:ext cx="365760"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822960" y="1143000"/>
            <a:ext cx="8046720" cy="411480"/>
          </a:xfrm>
          <a:prstGeom prst="rect">
            <a:avLst/>
          </a:prstGeom>
          <a:noFill/>
          <a:ln/>
        </p:spPr>
        <p:txBody>
          <a:bodyPr wrap="square" rtlCol="0" anchor="ctr"/>
          <a:lstStyle/>
          <a:p>
            <a:pPr marL="0" indent="0">
              <a:buNone/>
            </a:pPr>
            <a:r>
              <a:rPr lang="en-US" sz="1350" dirty="0">
                <a:solidFill>
                  <a:srgbClr val="E8F5E9"/>
                </a:solidFill>
                <a:latin typeface="Calibri" pitchFamily="34" charset="0"/>
                <a:ea typeface="Calibri" pitchFamily="34" charset="-122"/>
                <a:cs typeface="Calibri" pitchFamily="34" charset="-120"/>
              </a:rPr>
              <a:t>All 6 project scope requirements fully met - data collection, cleaning, EDA, regional comparison, charts, HTML dashboard</a:t>
            </a:r>
            <a:endParaRPr lang="en-US" sz="1350" dirty="0"/>
          </a:p>
        </p:txBody>
      </p:sp>
      <p:sp>
        <p:nvSpPr>
          <p:cNvPr id="8" name="Shape 6"/>
          <p:cNvSpPr/>
          <p:nvPr/>
        </p:nvSpPr>
        <p:spPr>
          <a:xfrm>
            <a:off x="365760" y="1920240"/>
            <a:ext cx="365760" cy="384048"/>
          </a:xfrm>
          <a:prstGeom prst="rect">
            <a:avLst/>
          </a:prstGeom>
          <a:solidFill>
            <a:srgbClr val="43A047"/>
          </a:solidFill>
          <a:ln w="12700">
            <a:solidFill>
              <a:srgbClr val="43A047"/>
            </a:solidFill>
            <a:prstDash val="solid"/>
          </a:ln>
        </p:spPr>
      </p:sp>
      <p:sp>
        <p:nvSpPr>
          <p:cNvPr id="9" name="Text 7"/>
          <p:cNvSpPr/>
          <p:nvPr/>
        </p:nvSpPr>
        <p:spPr>
          <a:xfrm>
            <a:off x="365760" y="1920240"/>
            <a:ext cx="365760"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0" name="Text 8"/>
          <p:cNvSpPr/>
          <p:nvPr/>
        </p:nvSpPr>
        <p:spPr>
          <a:xfrm>
            <a:off x="822960" y="1920240"/>
            <a:ext cx="8046720" cy="411480"/>
          </a:xfrm>
          <a:prstGeom prst="rect">
            <a:avLst/>
          </a:prstGeom>
          <a:noFill/>
          <a:ln/>
        </p:spPr>
        <p:txBody>
          <a:bodyPr wrap="square" rtlCol="0" anchor="ctr"/>
          <a:lstStyle/>
          <a:p>
            <a:pPr marL="0" indent="0">
              <a:buNone/>
            </a:pPr>
            <a:r>
              <a:rPr lang="en-US" sz="1350" dirty="0">
                <a:solidFill>
                  <a:srgbClr val="E8F5E9"/>
                </a:solidFill>
                <a:latin typeface="Calibri" pitchFamily="34" charset="0"/>
                <a:ea typeface="Calibri" pitchFamily="34" charset="-122"/>
                <a:cs typeface="Calibri" pitchFamily="34" charset="-120"/>
              </a:rPr>
              <a:t>Built a complete, production-quality data pipeline with EPA data going back to 1960</a:t>
            </a:r>
            <a:endParaRPr lang="en-US" sz="1350" dirty="0"/>
          </a:p>
        </p:txBody>
      </p:sp>
      <p:sp>
        <p:nvSpPr>
          <p:cNvPr id="11" name="Shape 9"/>
          <p:cNvSpPr/>
          <p:nvPr/>
        </p:nvSpPr>
        <p:spPr>
          <a:xfrm>
            <a:off x="365760" y="2697480"/>
            <a:ext cx="365760" cy="384048"/>
          </a:xfrm>
          <a:prstGeom prst="rect">
            <a:avLst/>
          </a:prstGeom>
          <a:solidFill>
            <a:srgbClr val="43A047"/>
          </a:solidFill>
          <a:ln w="12700">
            <a:solidFill>
              <a:srgbClr val="43A047"/>
            </a:solidFill>
            <a:prstDash val="solid"/>
          </a:ln>
        </p:spPr>
      </p:sp>
      <p:sp>
        <p:nvSpPr>
          <p:cNvPr id="12" name="Text 10"/>
          <p:cNvSpPr/>
          <p:nvPr/>
        </p:nvSpPr>
        <p:spPr>
          <a:xfrm>
            <a:off x="365760" y="2697480"/>
            <a:ext cx="365760"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3" name="Text 11"/>
          <p:cNvSpPr/>
          <p:nvPr/>
        </p:nvSpPr>
        <p:spPr>
          <a:xfrm>
            <a:off x="822960" y="2697480"/>
            <a:ext cx="8046720" cy="411480"/>
          </a:xfrm>
          <a:prstGeom prst="rect">
            <a:avLst/>
          </a:prstGeom>
          <a:noFill/>
          <a:ln/>
        </p:spPr>
        <p:txBody>
          <a:bodyPr wrap="square" rtlCol="0" anchor="ctr"/>
          <a:lstStyle/>
          <a:p>
            <a:pPr marL="0" indent="0">
              <a:buNone/>
            </a:pPr>
            <a:r>
              <a:rPr lang="en-US" sz="1350" dirty="0">
                <a:solidFill>
                  <a:srgbClr val="E8F5E9"/>
                </a:solidFill>
                <a:latin typeface="Calibri" pitchFamily="34" charset="0"/>
                <a:ea typeface="Calibri" pitchFamily="34" charset="-122"/>
                <a:cs typeface="Calibri" pitchFamily="34" charset="-120"/>
              </a:rPr>
              <a:t>Identified 5 statistically-supported findings with clear policy implications</a:t>
            </a:r>
            <a:endParaRPr lang="en-US" sz="1350" dirty="0"/>
          </a:p>
        </p:txBody>
      </p:sp>
      <p:sp>
        <p:nvSpPr>
          <p:cNvPr id="14" name="Shape 12"/>
          <p:cNvSpPr/>
          <p:nvPr/>
        </p:nvSpPr>
        <p:spPr>
          <a:xfrm>
            <a:off x="365760" y="3474720"/>
            <a:ext cx="365760" cy="384048"/>
          </a:xfrm>
          <a:prstGeom prst="rect">
            <a:avLst/>
          </a:prstGeom>
          <a:solidFill>
            <a:srgbClr val="43A047"/>
          </a:solidFill>
          <a:ln w="12700">
            <a:solidFill>
              <a:srgbClr val="43A047"/>
            </a:solidFill>
            <a:prstDash val="solid"/>
          </a:ln>
        </p:spPr>
      </p:sp>
      <p:sp>
        <p:nvSpPr>
          <p:cNvPr id="15" name="Text 13"/>
          <p:cNvSpPr/>
          <p:nvPr/>
        </p:nvSpPr>
        <p:spPr>
          <a:xfrm>
            <a:off x="365760" y="3474720"/>
            <a:ext cx="365760"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6" name="Text 14"/>
          <p:cNvSpPr/>
          <p:nvPr/>
        </p:nvSpPr>
        <p:spPr>
          <a:xfrm>
            <a:off x="822960" y="3474720"/>
            <a:ext cx="8046720" cy="411480"/>
          </a:xfrm>
          <a:prstGeom prst="rect">
            <a:avLst/>
          </a:prstGeom>
          <a:noFill/>
          <a:ln/>
        </p:spPr>
        <p:txBody>
          <a:bodyPr wrap="square" rtlCol="0" anchor="ctr"/>
          <a:lstStyle/>
          <a:p>
            <a:pPr marL="0" indent="0">
              <a:buNone/>
            </a:pPr>
            <a:r>
              <a:rPr lang="en-US" sz="1350" dirty="0">
                <a:solidFill>
                  <a:srgbClr val="E8F5E9"/>
                </a:solidFill>
                <a:latin typeface="Calibri" pitchFamily="34" charset="0"/>
                <a:ea typeface="Calibri" pitchFamily="34" charset="-122"/>
                <a:cs typeface="Calibri" pitchFamily="34" charset="-120"/>
              </a:rPr>
              <a:t>Dashboard serves live data via REST API with interactive filters and dark mode</a:t>
            </a:r>
            <a:endParaRPr lang="en-US" sz="1350" dirty="0"/>
          </a:p>
        </p:txBody>
      </p:sp>
      <p:sp>
        <p:nvSpPr>
          <p:cNvPr id="17" name="Text 15"/>
          <p:cNvSpPr/>
          <p:nvPr/>
        </p:nvSpPr>
        <p:spPr>
          <a:xfrm>
            <a:off x="365760" y="4224528"/>
            <a:ext cx="1828800" cy="347472"/>
          </a:xfrm>
          <a:prstGeom prst="rect">
            <a:avLst/>
          </a:prstGeom>
          <a:noFill/>
          <a:ln/>
        </p:spPr>
        <p:txBody>
          <a:bodyPr wrap="square" rtlCol="0" anchor="ctr"/>
          <a:lstStyle/>
          <a:p>
            <a:pPr marL="0" indent="0">
              <a:buNone/>
            </a:pPr>
            <a:r>
              <a:rPr lang="en-US" sz="1300" b="1" dirty="0">
                <a:solidFill>
                  <a:srgbClr val="43A047"/>
                </a:solidFill>
                <a:latin typeface="Calibri" pitchFamily="34" charset="0"/>
                <a:ea typeface="Calibri" pitchFamily="34" charset="-122"/>
                <a:cs typeface="Calibri" pitchFamily="34" charset="-120"/>
              </a:rPr>
              <a:t>Future Work:</a:t>
            </a:r>
            <a:endParaRPr lang="en-US" sz="1300" dirty="0"/>
          </a:p>
        </p:txBody>
      </p:sp>
      <p:sp>
        <p:nvSpPr>
          <p:cNvPr id="18" name="Text 16"/>
          <p:cNvSpPr/>
          <p:nvPr/>
        </p:nvSpPr>
        <p:spPr>
          <a:xfrm>
            <a:off x="365760" y="4380679"/>
            <a:ext cx="8412480" cy="347472"/>
          </a:xfrm>
          <a:prstGeom prst="rect">
            <a:avLst/>
          </a:prstGeom>
          <a:noFill/>
          <a:ln/>
        </p:spPr>
        <p:txBody>
          <a:bodyPr wrap="square" rtlCol="0" anchor="ctr"/>
          <a:lstStyle/>
          <a:p>
            <a:pPr marL="0" indent="0">
              <a:buNone/>
            </a:pPr>
            <a:r>
              <a:rPr lang="en-US" sz="1200" dirty="0">
                <a:solidFill>
                  <a:srgbClr val="9E9E9E"/>
                </a:solidFill>
                <a:latin typeface="Calibri" pitchFamily="34" charset="0"/>
                <a:ea typeface="Calibri" pitchFamily="34" charset="-122"/>
                <a:cs typeface="Calibri" pitchFamily="34" charset="-120"/>
              </a:rPr>
              <a:t>Add post-2018 EPA data  •  Expand to all 50 states  •  Deploy to public URL (Render/Railway)  •  Add economic cost analysis</a:t>
            </a:r>
            <a:endParaRPr lang="en-US" sz="1200" dirty="0"/>
          </a:p>
        </p:txBody>
      </p:sp>
      <p:sp>
        <p:nvSpPr>
          <p:cNvPr id="19" name="Shape 17"/>
          <p:cNvSpPr/>
          <p:nvPr/>
        </p:nvSpPr>
        <p:spPr>
          <a:xfrm>
            <a:off x="365760" y="4663440"/>
            <a:ext cx="8412480" cy="310896"/>
          </a:xfrm>
          <a:prstGeom prst="rect">
            <a:avLst/>
          </a:prstGeom>
          <a:solidFill>
            <a:srgbClr val="1B3A1B"/>
          </a:solidFill>
          <a:ln w="12700">
            <a:solidFill>
              <a:srgbClr val="1B3A1B"/>
            </a:solidFill>
            <a:prstDash val="solid"/>
          </a:ln>
        </p:spPr>
      </p:sp>
      <p:sp>
        <p:nvSpPr>
          <p:cNvPr id="20" name="Text 18"/>
          <p:cNvSpPr/>
          <p:nvPr/>
        </p:nvSpPr>
        <p:spPr>
          <a:xfrm>
            <a:off x="365760" y="4681728"/>
            <a:ext cx="8412480" cy="274320"/>
          </a:xfrm>
          <a:prstGeom prst="rect">
            <a:avLst/>
          </a:prstGeom>
          <a:noFill/>
          <a:ln/>
        </p:spPr>
        <p:txBody>
          <a:bodyPr wrap="square" rtlCol="0" anchor="ctr"/>
          <a:lstStyle/>
          <a:p>
            <a:pPr marL="0" indent="0" algn="ctr">
              <a:buNone/>
            </a:pPr>
            <a:r>
              <a:rPr lang="en-US" sz="1100" dirty="0">
                <a:solidFill>
                  <a:srgbClr val="81C784"/>
                </a:solidFill>
                <a:latin typeface="Calibri" pitchFamily="34" charset="0"/>
                <a:ea typeface="Calibri" pitchFamily="34" charset="-122"/>
                <a:cs typeface="Calibri" pitchFamily="34" charset="-120"/>
              </a:rPr>
              <a:t>•  CSIT697 Master's Project  </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9FBF9"/>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2E7D32"/>
          </a:solidFill>
          <a:ln w="12700">
            <a:solidFill>
              <a:srgbClr val="2E7D32"/>
            </a:solidFill>
            <a:prstDash val="solid"/>
          </a:ln>
        </p:spPr>
      </p:sp>
      <p:sp>
        <p:nvSpPr>
          <p:cNvPr id="3" name="Text 1"/>
          <p:cNvSpPr/>
          <p:nvPr/>
        </p:nvSpPr>
        <p:spPr>
          <a:xfrm>
            <a:off x="365760" y="91440"/>
            <a:ext cx="8229600" cy="59436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Dashboard - About Section</a:t>
            </a:r>
            <a:endParaRPr lang="en-US" sz="2800" dirty="0"/>
          </a:p>
        </p:txBody>
      </p:sp>
      <p:sp>
        <p:nvSpPr>
          <p:cNvPr id="5" name="Text 2"/>
          <p:cNvSpPr/>
          <p:nvPr/>
        </p:nvSpPr>
        <p:spPr>
          <a:xfrm>
            <a:off x="274320" y="4853706"/>
            <a:ext cx="8595360" cy="274320"/>
          </a:xfrm>
          <a:prstGeom prst="rect">
            <a:avLst/>
          </a:prstGeom>
          <a:noFill/>
          <a:ln/>
        </p:spPr>
        <p:txBody>
          <a:bodyPr wrap="square" rtlCol="0" anchor="ctr"/>
          <a:lstStyle/>
          <a:p>
            <a:pPr marL="0" indent="0" algn="ctr">
              <a:buNone/>
            </a:pPr>
            <a:r>
              <a:rPr lang="en-US" sz="1100" i="1" dirty="0">
                <a:solidFill>
                  <a:srgbClr val="546E7A"/>
                </a:solidFill>
                <a:latin typeface="Calibri" pitchFamily="34" charset="0"/>
                <a:ea typeface="Calibri" pitchFamily="34" charset="-122"/>
                <a:cs typeface="Calibri" pitchFamily="34" charset="-120"/>
              </a:rPr>
              <a:t>Stat cards, key findings, and project overview visible on first load</a:t>
            </a:r>
            <a:endParaRPr lang="en-US" sz="1100" dirty="0"/>
          </a:p>
        </p:txBody>
      </p:sp>
      <p:pic>
        <p:nvPicPr>
          <p:cNvPr id="7" name="Picture 6">
            <a:extLst>
              <a:ext uri="{FF2B5EF4-FFF2-40B4-BE49-F238E27FC236}">
                <a16:creationId xmlns:a16="http://schemas.microsoft.com/office/drawing/2014/main" id="{BBB7883E-17D0-A989-85B1-3101F8180D94}"/>
              </a:ext>
            </a:extLst>
          </p:cNvPr>
          <p:cNvPicPr>
            <a:picLocks noChangeAspect="1"/>
          </p:cNvPicPr>
          <p:nvPr/>
        </p:nvPicPr>
        <p:blipFill>
          <a:blip r:embed="rId3"/>
          <a:stretch>
            <a:fillRect/>
          </a:stretch>
        </p:blipFill>
        <p:spPr>
          <a:xfrm>
            <a:off x="629529" y="826756"/>
            <a:ext cx="7884942" cy="3977433"/>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9FBF9"/>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2E7D32"/>
          </a:solidFill>
          <a:ln w="12700">
            <a:solidFill>
              <a:srgbClr val="2E7D32"/>
            </a:solidFill>
            <a:prstDash val="solid"/>
          </a:ln>
        </p:spPr>
      </p:sp>
      <p:sp>
        <p:nvSpPr>
          <p:cNvPr id="3" name="Text 1"/>
          <p:cNvSpPr/>
          <p:nvPr/>
        </p:nvSpPr>
        <p:spPr>
          <a:xfrm>
            <a:off x="365760" y="91440"/>
            <a:ext cx="8229600" cy="59436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Dashboard - US Trends Section</a:t>
            </a:r>
            <a:endParaRPr lang="en-US" sz="2800" dirty="0"/>
          </a:p>
        </p:txBody>
      </p:sp>
      <p:sp>
        <p:nvSpPr>
          <p:cNvPr id="5" name="Shape 2"/>
          <p:cNvSpPr/>
          <p:nvPr/>
        </p:nvSpPr>
        <p:spPr>
          <a:xfrm>
            <a:off x="5897880" y="1005840"/>
            <a:ext cx="3017520" cy="594360"/>
          </a:xfrm>
          <a:prstGeom prst="rect">
            <a:avLst/>
          </a:prstGeom>
          <a:solidFill>
            <a:srgbClr val="FFFFFF"/>
          </a:solidFill>
          <a:ln w="12700">
            <a:solidFill>
              <a:srgbClr val="C8E6C9"/>
            </a:solidFill>
            <a:prstDash val="solid"/>
          </a:ln>
        </p:spPr>
      </p:sp>
      <p:sp>
        <p:nvSpPr>
          <p:cNvPr id="6" name="Shape 3"/>
          <p:cNvSpPr/>
          <p:nvPr/>
        </p:nvSpPr>
        <p:spPr>
          <a:xfrm>
            <a:off x="5897880" y="1005840"/>
            <a:ext cx="91440" cy="594360"/>
          </a:xfrm>
          <a:prstGeom prst="rect">
            <a:avLst/>
          </a:prstGeom>
          <a:solidFill>
            <a:srgbClr val="2E7D32"/>
          </a:solidFill>
          <a:ln w="12700">
            <a:solidFill>
              <a:srgbClr val="2E7D32"/>
            </a:solidFill>
            <a:prstDash val="solid"/>
          </a:ln>
        </p:spPr>
      </p:sp>
      <p:sp>
        <p:nvSpPr>
          <p:cNvPr id="7" name="Text 4"/>
          <p:cNvSpPr/>
          <p:nvPr/>
        </p:nvSpPr>
        <p:spPr>
          <a:xfrm>
            <a:off x="6080760" y="1060704"/>
            <a:ext cx="2788920" cy="475488"/>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Line chart: 1960–2018 for all 4 materials</a:t>
            </a:r>
            <a:endParaRPr lang="en-US" sz="1200" dirty="0"/>
          </a:p>
        </p:txBody>
      </p:sp>
      <p:sp>
        <p:nvSpPr>
          <p:cNvPr id="8" name="Shape 5"/>
          <p:cNvSpPr/>
          <p:nvPr/>
        </p:nvSpPr>
        <p:spPr>
          <a:xfrm>
            <a:off x="5897880" y="1755648"/>
            <a:ext cx="3017520" cy="594360"/>
          </a:xfrm>
          <a:prstGeom prst="rect">
            <a:avLst/>
          </a:prstGeom>
          <a:solidFill>
            <a:srgbClr val="FFFFFF"/>
          </a:solidFill>
          <a:ln w="12700">
            <a:solidFill>
              <a:srgbClr val="C8E6C9"/>
            </a:solidFill>
            <a:prstDash val="solid"/>
          </a:ln>
        </p:spPr>
      </p:sp>
      <p:sp>
        <p:nvSpPr>
          <p:cNvPr id="9" name="Shape 6"/>
          <p:cNvSpPr/>
          <p:nvPr/>
        </p:nvSpPr>
        <p:spPr>
          <a:xfrm>
            <a:off x="5897880" y="1755648"/>
            <a:ext cx="91440" cy="594360"/>
          </a:xfrm>
          <a:prstGeom prst="rect">
            <a:avLst/>
          </a:prstGeom>
          <a:solidFill>
            <a:srgbClr val="2E7D32"/>
          </a:solidFill>
          <a:ln w="12700">
            <a:solidFill>
              <a:srgbClr val="2E7D32"/>
            </a:solidFill>
            <a:prstDash val="solid"/>
          </a:ln>
        </p:spPr>
      </p:sp>
      <p:sp>
        <p:nvSpPr>
          <p:cNvPr id="10" name="Text 7"/>
          <p:cNvSpPr/>
          <p:nvPr/>
        </p:nvSpPr>
        <p:spPr>
          <a:xfrm>
            <a:off x="6080760" y="1810512"/>
            <a:ext cx="2788920" cy="475488"/>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Dropdown filter by material</a:t>
            </a:r>
            <a:endParaRPr lang="en-US" sz="1200" dirty="0"/>
          </a:p>
        </p:txBody>
      </p:sp>
      <p:sp>
        <p:nvSpPr>
          <p:cNvPr id="11" name="Shape 8"/>
          <p:cNvSpPr/>
          <p:nvPr/>
        </p:nvSpPr>
        <p:spPr>
          <a:xfrm>
            <a:off x="5897880" y="2505456"/>
            <a:ext cx="3017520" cy="594360"/>
          </a:xfrm>
          <a:prstGeom prst="rect">
            <a:avLst/>
          </a:prstGeom>
          <a:solidFill>
            <a:srgbClr val="FFFFFF"/>
          </a:solidFill>
          <a:ln w="12700">
            <a:solidFill>
              <a:srgbClr val="C8E6C9"/>
            </a:solidFill>
            <a:prstDash val="solid"/>
          </a:ln>
        </p:spPr>
      </p:sp>
      <p:sp>
        <p:nvSpPr>
          <p:cNvPr id="12" name="Shape 9"/>
          <p:cNvSpPr/>
          <p:nvPr/>
        </p:nvSpPr>
        <p:spPr>
          <a:xfrm>
            <a:off x="5897880" y="2505456"/>
            <a:ext cx="91440" cy="594360"/>
          </a:xfrm>
          <a:prstGeom prst="rect">
            <a:avLst/>
          </a:prstGeom>
          <a:solidFill>
            <a:srgbClr val="2E7D32"/>
          </a:solidFill>
          <a:ln w="12700">
            <a:solidFill>
              <a:srgbClr val="2E7D32"/>
            </a:solidFill>
            <a:prstDash val="solid"/>
          </a:ln>
        </p:spPr>
      </p:sp>
      <p:sp>
        <p:nvSpPr>
          <p:cNvPr id="13" name="Text 10"/>
          <p:cNvSpPr/>
          <p:nvPr/>
        </p:nvSpPr>
        <p:spPr>
          <a:xfrm>
            <a:off x="6080760" y="2560320"/>
            <a:ext cx="2788920" cy="475488"/>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Average bar chart below</a:t>
            </a:r>
            <a:endParaRPr lang="en-US" sz="1200" dirty="0"/>
          </a:p>
        </p:txBody>
      </p:sp>
      <p:sp>
        <p:nvSpPr>
          <p:cNvPr id="14" name="Shape 11"/>
          <p:cNvSpPr/>
          <p:nvPr/>
        </p:nvSpPr>
        <p:spPr>
          <a:xfrm>
            <a:off x="5897880" y="3255264"/>
            <a:ext cx="3017520" cy="594360"/>
          </a:xfrm>
          <a:prstGeom prst="rect">
            <a:avLst/>
          </a:prstGeom>
          <a:solidFill>
            <a:srgbClr val="FFFFFF"/>
          </a:solidFill>
          <a:ln w="12700">
            <a:solidFill>
              <a:srgbClr val="C8E6C9"/>
            </a:solidFill>
            <a:prstDash val="solid"/>
          </a:ln>
        </p:spPr>
      </p:sp>
      <p:sp>
        <p:nvSpPr>
          <p:cNvPr id="15" name="Shape 12"/>
          <p:cNvSpPr/>
          <p:nvPr/>
        </p:nvSpPr>
        <p:spPr>
          <a:xfrm>
            <a:off x="5897880" y="3255264"/>
            <a:ext cx="91440" cy="594360"/>
          </a:xfrm>
          <a:prstGeom prst="rect">
            <a:avLst/>
          </a:prstGeom>
          <a:solidFill>
            <a:srgbClr val="2E7D32"/>
          </a:solidFill>
          <a:ln w="12700">
            <a:solidFill>
              <a:srgbClr val="2E7D32"/>
            </a:solidFill>
            <a:prstDash val="solid"/>
          </a:ln>
        </p:spPr>
      </p:sp>
      <p:sp>
        <p:nvSpPr>
          <p:cNvPr id="16" name="Text 13"/>
          <p:cNvSpPr/>
          <p:nvPr/>
        </p:nvSpPr>
        <p:spPr>
          <a:xfrm>
            <a:off x="6080760" y="3310128"/>
            <a:ext cx="2788920" cy="475488"/>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Filterable data table</a:t>
            </a:r>
            <a:endParaRPr lang="en-US" sz="1200" dirty="0"/>
          </a:p>
        </p:txBody>
      </p:sp>
      <p:sp>
        <p:nvSpPr>
          <p:cNvPr id="17" name="Shape 14"/>
          <p:cNvSpPr/>
          <p:nvPr/>
        </p:nvSpPr>
        <p:spPr>
          <a:xfrm>
            <a:off x="5897880" y="4005072"/>
            <a:ext cx="3017520" cy="594360"/>
          </a:xfrm>
          <a:prstGeom prst="rect">
            <a:avLst/>
          </a:prstGeom>
          <a:solidFill>
            <a:srgbClr val="FFFFFF"/>
          </a:solidFill>
          <a:ln w="12700">
            <a:solidFill>
              <a:srgbClr val="C8E6C9"/>
            </a:solidFill>
            <a:prstDash val="solid"/>
          </a:ln>
        </p:spPr>
      </p:sp>
      <p:sp>
        <p:nvSpPr>
          <p:cNvPr id="18" name="Shape 15"/>
          <p:cNvSpPr/>
          <p:nvPr/>
        </p:nvSpPr>
        <p:spPr>
          <a:xfrm>
            <a:off x="5897880" y="4005072"/>
            <a:ext cx="91440" cy="594360"/>
          </a:xfrm>
          <a:prstGeom prst="rect">
            <a:avLst/>
          </a:prstGeom>
          <a:solidFill>
            <a:srgbClr val="2E7D32"/>
          </a:solidFill>
          <a:ln w="12700">
            <a:solidFill>
              <a:srgbClr val="2E7D32"/>
            </a:solidFill>
            <a:prstDash val="solid"/>
          </a:ln>
        </p:spPr>
      </p:sp>
      <p:sp>
        <p:nvSpPr>
          <p:cNvPr id="19" name="Text 16"/>
          <p:cNvSpPr/>
          <p:nvPr/>
        </p:nvSpPr>
        <p:spPr>
          <a:xfrm>
            <a:off x="6080760" y="4059936"/>
            <a:ext cx="2788920" cy="475488"/>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All data from live Flask API</a:t>
            </a:r>
            <a:endParaRPr lang="en-US" sz="1200" dirty="0"/>
          </a:p>
        </p:txBody>
      </p:sp>
      <p:pic>
        <p:nvPicPr>
          <p:cNvPr id="23" name="Picture 22">
            <a:extLst>
              <a:ext uri="{FF2B5EF4-FFF2-40B4-BE49-F238E27FC236}">
                <a16:creationId xmlns:a16="http://schemas.microsoft.com/office/drawing/2014/main" id="{0A3DA4F7-AC8C-6A94-18B8-0D0E6AB4CA5A}"/>
              </a:ext>
            </a:extLst>
          </p:cNvPr>
          <p:cNvPicPr>
            <a:picLocks noChangeAspect="1"/>
          </p:cNvPicPr>
          <p:nvPr/>
        </p:nvPicPr>
        <p:blipFill>
          <a:blip r:embed="rId3"/>
          <a:stretch>
            <a:fillRect/>
          </a:stretch>
        </p:blipFill>
        <p:spPr>
          <a:xfrm>
            <a:off x="45720" y="1133064"/>
            <a:ext cx="5806440" cy="3372114"/>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9FBF9"/>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2E7D32"/>
          </a:solidFill>
          <a:ln w="12700">
            <a:solidFill>
              <a:srgbClr val="2E7D32"/>
            </a:solidFill>
            <a:prstDash val="solid"/>
          </a:ln>
        </p:spPr>
      </p:sp>
      <p:sp>
        <p:nvSpPr>
          <p:cNvPr id="3" name="Text 1"/>
          <p:cNvSpPr/>
          <p:nvPr/>
        </p:nvSpPr>
        <p:spPr>
          <a:xfrm>
            <a:off x="365760" y="91440"/>
            <a:ext cx="8229600" cy="59436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Dashboard - By State Section</a:t>
            </a:r>
            <a:endParaRPr lang="en-US" sz="2800" dirty="0"/>
          </a:p>
        </p:txBody>
      </p:sp>
      <p:sp>
        <p:nvSpPr>
          <p:cNvPr id="5" name="Shape 2"/>
          <p:cNvSpPr/>
          <p:nvPr/>
        </p:nvSpPr>
        <p:spPr>
          <a:xfrm>
            <a:off x="5897880" y="1005840"/>
            <a:ext cx="3017520" cy="594360"/>
          </a:xfrm>
          <a:prstGeom prst="rect">
            <a:avLst/>
          </a:prstGeom>
          <a:solidFill>
            <a:srgbClr val="FFFFFF"/>
          </a:solidFill>
          <a:ln w="12700">
            <a:solidFill>
              <a:srgbClr val="BBDEFB"/>
            </a:solidFill>
            <a:prstDash val="solid"/>
          </a:ln>
        </p:spPr>
      </p:sp>
      <p:sp>
        <p:nvSpPr>
          <p:cNvPr id="6" name="Shape 3"/>
          <p:cNvSpPr/>
          <p:nvPr/>
        </p:nvSpPr>
        <p:spPr>
          <a:xfrm>
            <a:off x="5897880" y="1005840"/>
            <a:ext cx="91440" cy="594360"/>
          </a:xfrm>
          <a:prstGeom prst="rect">
            <a:avLst/>
          </a:prstGeom>
          <a:solidFill>
            <a:srgbClr val="1565C0"/>
          </a:solidFill>
          <a:ln w="12700">
            <a:solidFill>
              <a:srgbClr val="1565C0"/>
            </a:solidFill>
            <a:prstDash val="solid"/>
          </a:ln>
        </p:spPr>
      </p:sp>
      <p:sp>
        <p:nvSpPr>
          <p:cNvPr id="7" name="Text 4"/>
          <p:cNvSpPr/>
          <p:nvPr/>
        </p:nvSpPr>
        <p:spPr>
          <a:xfrm>
            <a:off x="6080760" y="1060704"/>
            <a:ext cx="2788920" cy="475488"/>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Bar chart: 8 states ranked by material</a:t>
            </a:r>
            <a:endParaRPr lang="en-US" sz="1200" dirty="0"/>
          </a:p>
        </p:txBody>
      </p:sp>
      <p:sp>
        <p:nvSpPr>
          <p:cNvPr id="8" name="Shape 5"/>
          <p:cNvSpPr/>
          <p:nvPr/>
        </p:nvSpPr>
        <p:spPr>
          <a:xfrm>
            <a:off x="5897880" y="1755648"/>
            <a:ext cx="3017520" cy="594360"/>
          </a:xfrm>
          <a:prstGeom prst="rect">
            <a:avLst/>
          </a:prstGeom>
          <a:solidFill>
            <a:srgbClr val="FFFFFF"/>
          </a:solidFill>
          <a:ln w="12700">
            <a:solidFill>
              <a:srgbClr val="BBDEFB"/>
            </a:solidFill>
            <a:prstDash val="solid"/>
          </a:ln>
        </p:spPr>
      </p:sp>
      <p:sp>
        <p:nvSpPr>
          <p:cNvPr id="9" name="Shape 6"/>
          <p:cNvSpPr/>
          <p:nvPr/>
        </p:nvSpPr>
        <p:spPr>
          <a:xfrm>
            <a:off x="5897880" y="1755648"/>
            <a:ext cx="91440" cy="594360"/>
          </a:xfrm>
          <a:prstGeom prst="rect">
            <a:avLst/>
          </a:prstGeom>
          <a:solidFill>
            <a:srgbClr val="1565C0"/>
          </a:solidFill>
          <a:ln w="12700">
            <a:solidFill>
              <a:srgbClr val="1565C0"/>
            </a:solidFill>
            <a:prstDash val="solid"/>
          </a:ln>
        </p:spPr>
      </p:sp>
      <p:sp>
        <p:nvSpPr>
          <p:cNvPr id="10" name="Text 7"/>
          <p:cNvSpPr/>
          <p:nvPr/>
        </p:nvSpPr>
        <p:spPr>
          <a:xfrm>
            <a:off x="6080760" y="1810512"/>
            <a:ext cx="2788920" cy="475488"/>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Material dropdown updates chart live</a:t>
            </a:r>
            <a:endParaRPr lang="en-US" sz="1200" dirty="0"/>
          </a:p>
        </p:txBody>
      </p:sp>
      <p:sp>
        <p:nvSpPr>
          <p:cNvPr id="11" name="Shape 8"/>
          <p:cNvSpPr/>
          <p:nvPr/>
        </p:nvSpPr>
        <p:spPr>
          <a:xfrm>
            <a:off x="5897880" y="2505456"/>
            <a:ext cx="3017520" cy="594360"/>
          </a:xfrm>
          <a:prstGeom prst="rect">
            <a:avLst/>
          </a:prstGeom>
          <a:solidFill>
            <a:srgbClr val="FFFFFF"/>
          </a:solidFill>
          <a:ln w="12700">
            <a:solidFill>
              <a:srgbClr val="BBDEFB"/>
            </a:solidFill>
            <a:prstDash val="solid"/>
          </a:ln>
        </p:spPr>
      </p:sp>
      <p:sp>
        <p:nvSpPr>
          <p:cNvPr id="12" name="Shape 9"/>
          <p:cNvSpPr/>
          <p:nvPr/>
        </p:nvSpPr>
        <p:spPr>
          <a:xfrm>
            <a:off x="5897880" y="2505456"/>
            <a:ext cx="91440" cy="594360"/>
          </a:xfrm>
          <a:prstGeom prst="rect">
            <a:avLst/>
          </a:prstGeom>
          <a:solidFill>
            <a:srgbClr val="1565C0"/>
          </a:solidFill>
          <a:ln w="12700">
            <a:solidFill>
              <a:srgbClr val="1565C0"/>
            </a:solidFill>
            <a:prstDash val="solid"/>
          </a:ln>
        </p:spPr>
      </p:sp>
      <p:sp>
        <p:nvSpPr>
          <p:cNvPr id="13" name="Text 10"/>
          <p:cNvSpPr/>
          <p:nvPr/>
        </p:nvSpPr>
        <p:spPr>
          <a:xfrm>
            <a:off x="6080760" y="2560320"/>
            <a:ext cx="2788920" cy="475488"/>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Heatmap: State × Material grid below</a:t>
            </a:r>
            <a:endParaRPr lang="en-US" sz="1200" dirty="0"/>
          </a:p>
        </p:txBody>
      </p:sp>
      <p:sp>
        <p:nvSpPr>
          <p:cNvPr id="14" name="Shape 11"/>
          <p:cNvSpPr/>
          <p:nvPr/>
        </p:nvSpPr>
        <p:spPr>
          <a:xfrm>
            <a:off x="5897880" y="3255264"/>
            <a:ext cx="3017520" cy="594360"/>
          </a:xfrm>
          <a:prstGeom prst="rect">
            <a:avLst/>
          </a:prstGeom>
          <a:solidFill>
            <a:srgbClr val="FFFFFF"/>
          </a:solidFill>
          <a:ln w="12700">
            <a:solidFill>
              <a:srgbClr val="BBDEFB"/>
            </a:solidFill>
            <a:prstDash val="solid"/>
          </a:ln>
        </p:spPr>
      </p:sp>
      <p:sp>
        <p:nvSpPr>
          <p:cNvPr id="15" name="Shape 12"/>
          <p:cNvSpPr/>
          <p:nvPr/>
        </p:nvSpPr>
        <p:spPr>
          <a:xfrm>
            <a:off x="5897880" y="3255264"/>
            <a:ext cx="91440" cy="594360"/>
          </a:xfrm>
          <a:prstGeom prst="rect">
            <a:avLst/>
          </a:prstGeom>
          <a:solidFill>
            <a:srgbClr val="1565C0"/>
          </a:solidFill>
          <a:ln w="12700">
            <a:solidFill>
              <a:srgbClr val="1565C0"/>
            </a:solidFill>
            <a:prstDash val="solid"/>
          </a:ln>
        </p:spPr>
      </p:sp>
      <p:sp>
        <p:nvSpPr>
          <p:cNvPr id="16" name="Text 13"/>
          <p:cNvSpPr/>
          <p:nvPr/>
        </p:nvSpPr>
        <p:spPr>
          <a:xfrm>
            <a:off x="6080760" y="3310128"/>
            <a:ext cx="2788920" cy="475488"/>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Deposit law comparison chart</a:t>
            </a:r>
            <a:endParaRPr lang="en-US" sz="1200" dirty="0"/>
          </a:p>
        </p:txBody>
      </p:sp>
      <p:sp>
        <p:nvSpPr>
          <p:cNvPr id="17" name="Shape 14"/>
          <p:cNvSpPr/>
          <p:nvPr/>
        </p:nvSpPr>
        <p:spPr>
          <a:xfrm>
            <a:off x="5897880" y="4005072"/>
            <a:ext cx="3017520" cy="594360"/>
          </a:xfrm>
          <a:prstGeom prst="rect">
            <a:avLst/>
          </a:prstGeom>
          <a:solidFill>
            <a:srgbClr val="FFFFFF"/>
          </a:solidFill>
          <a:ln w="12700">
            <a:solidFill>
              <a:srgbClr val="BBDEFB"/>
            </a:solidFill>
            <a:prstDash val="solid"/>
          </a:ln>
        </p:spPr>
      </p:sp>
      <p:sp>
        <p:nvSpPr>
          <p:cNvPr id="18" name="Shape 15"/>
          <p:cNvSpPr/>
          <p:nvPr/>
        </p:nvSpPr>
        <p:spPr>
          <a:xfrm>
            <a:off x="5897880" y="4005072"/>
            <a:ext cx="91440" cy="594360"/>
          </a:xfrm>
          <a:prstGeom prst="rect">
            <a:avLst/>
          </a:prstGeom>
          <a:solidFill>
            <a:srgbClr val="1565C0"/>
          </a:solidFill>
          <a:ln w="12700">
            <a:solidFill>
              <a:srgbClr val="1565C0"/>
            </a:solidFill>
            <a:prstDash val="solid"/>
          </a:ln>
        </p:spPr>
      </p:sp>
      <p:sp>
        <p:nvSpPr>
          <p:cNvPr id="19" name="Text 16"/>
          <p:cNvSpPr/>
          <p:nvPr/>
        </p:nvSpPr>
        <p:spPr>
          <a:xfrm>
            <a:off x="6080760" y="4059936"/>
            <a:ext cx="2788920" cy="475488"/>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Full state data table at bottom</a:t>
            </a:r>
            <a:endParaRPr lang="en-US" sz="1200" dirty="0"/>
          </a:p>
        </p:txBody>
      </p:sp>
      <p:pic>
        <p:nvPicPr>
          <p:cNvPr id="21" name="Picture 20">
            <a:extLst>
              <a:ext uri="{FF2B5EF4-FFF2-40B4-BE49-F238E27FC236}">
                <a16:creationId xmlns:a16="http://schemas.microsoft.com/office/drawing/2014/main" id="{C61859B7-1716-B535-354C-A8707AABF9BC}"/>
              </a:ext>
            </a:extLst>
          </p:cNvPr>
          <p:cNvPicPr>
            <a:picLocks noChangeAspect="1"/>
          </p:cNvPicPr>
          <p:nvPr/>
        </p:nvPicPr>
        <p:blipFill>
          <a:blip r:embed="rId3"/>
          <a:stretch>
            <a:fillRect/>
          </a:stretch>
        </p:blipFill>
        <p:spPr>
          <a:xfrm>
            <a:off x="52725" y="1443600"/>
            <a:ext cx="5753715" cy="282969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2159</TotalTime>
  <Words>1146</Words>
  <Application>Microsoft Office PowerPoint</Application>
  <PresentationFormat>On-screen Show (16:9)</PresentationFormat>
  <Paragraphs>209</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Recycling Awareness Data Dashboard</dc:title>
  <dc:subject>PptxGenJS Presentation</dc:subject>
  <dc:creator>Vinayak Vemula &amp; Varshitha Kayithi</dc:creator>
  <cp:lastModifiedBy>vinayak vemula</cp:lastModifiedBy>
  <cp:revision>3</cp:revision>
  <dcterms:created xsi:type="dcterms:W3CDTF">2026-04-21T17:42:07Z</dcterms:created>
  <dcterms:modified xsi:type="dcterms:W3CDTF">2026-04-24T04:55:58Z</dcterms:modified>
</cp:coreProperties>
</file>